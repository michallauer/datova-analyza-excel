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7"/>
  </p:notesMasterIdLst>
  <p:sldIdLst>
    <p:sldId id="404" r:id="rId5"/>
    <p:sldId id="339" r:id="rId6"/>
    <p:sldId id="323" r:id="rId7"/>
    <p:sldId id="435" r:id="rId8"/>
    <p:sldId id="415" r:id="rId9"/>
    <p:sldId id="406" r:id="rId10"/>
    <p:sldId id="434" r:id="rId11"/>
    <p:sldId id="407" r:id="rId12"/>
    <p:sldId id="408" r:id="rId13"/>
    <p:sldId id="409" r:id="rId14"/>
    <p:sldId id="410" r:id="rId15"/>
    <p:sldId id="411" r:id="rId16"/>
    <p:sldId id="416" r:id="rId17"/>
    <p:sldId id="422" r:id="rId18"/>
    <p:sldId id="428" r:id="rId19"/>
    <p:sldId id="431" r:id="rId20"/>
    <p:sldId id="429" r:id="rId21"/>
    <p:sldId id="430" r:id="rId22"/>
    <p:sldId id="432" r:id="rId23"/>
    <p:sldId id="412" r:id="rId24"/>
    <p:sldId id="413" r:id="rId25"/>
    <p:sldId id="417" r:id="rId26"/>
    <p:sldId id="419" r:id="rId27"/>
    <p:sldId id="418" r:id="rId28"/>
    <p:sldId id="420" r:id="rId29"/>
    <p:sldId id="421" r:id="rId30"/>
    <p:sldId id="423" r:id="rId31"/>
    <p:sldId id="424" r:id="rId32"/>
    <p:sldId id="425" r:id="rId33"/>
    <p:sldId id="426" r:id="rId34"/>
    <p:sldId id="427" r:id="rId35"/>
    <p:sldId id="433" r:id="rId36"/>
  </p:sldIdLst>
  <p:sldSz cx="11522075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6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929"/>
    <a:srgbClr val="993300"/>
    <a:srgbClr val="005CAC"/>
    <a:srgbClr val="002A58"/>
    <a:srgbClr val="A5A7AA"/>
    <a:srgbClr val="D0CECE"/>
    <a:srgbClr val="A9DF62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9" autoAdjust="0"/>
    <p:restoredTop sz="93881"/>
  </p:normalViewPr>
  <p:slideViewPr>
    <p:cSldViewPr snapToGrid="0" snapToObjects="1">
      <p:cViewPr varScale="1">
        <p:scale>
          <a:sx n="121" d="100"/>
          <a:sy n="121" d="100"/>
        </p:scale>
        <p:origin x="470" y="91"/>
      </p:cViewPr>
      <p:guideLst>
        <p:guide orient="horz" pos="2160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26T11:34:43.045"/>
    </inkml:context>
    <inkml:brush xml:id="br0">
      <inkml:brushProperty name="width" value="0.2" units="cm"/>
      <inkml:brushProperty name="height" value="0.2" units="cm"/>
      <inkml:brushProperty name="color" value="#008C3A"/>
    </inkml:brush>
  </inkml:definitions>
  <inkml:trace contextRef="#ctx0" brushRef="#br0">4942 1021 24575,'0'0'0,"-7"-21"0,-1 0 0,-1 1 0,-1 0 0,0 0 0,-2 2 0,0-1 0,-1 1 0,-17-17 0,-4 5 0,-2 1 0,-1 2 0,-53-29 0,68 43 0,-117-61 0,70 39 0,-41-17 0,-31-9 0,-6 7 0,11 11 0,-37-13 0,148 48 0,-46-9 0,-1 1 0,-188-50 0,236 61 0,-47-5 0,46 8 0,-43-10 0,20 0 0,-1 2 0,-62-5 0,65 9 0,-53-13 0,64 10 0,0 3 0,-1 0 0,-45 0 0,48 4 0,1-1 0,0-1 0,-43-13 0,-22-3 0,59 16 0,-45 1 0,50 3 0,0-1 0,-37-7 0,25 2 0,1 2 0,-1 2 0,-48 5 0,5-1 0,-2-4 0,-100 4 0,165 2 0,-1 1 0,-40 12 0,44-10 0,-1 0 0,0-2 0,-37 3 0,37-5 0,0 2 0,1 0 0,-1 1 0,1 1 0,-28 14 0,-120 64 0,111-51 0,2 3 0,-57 48 0,18-3 0,76-64 0,0 2 0,2 0 0,0 1 0,1 0 0,-24 44 0,4-10 0,12-20 0,13-19 0,0 0 0,2 0 0,-13 27 0,-10 14 0,7-13 0,-41 80 0,44-76 0,3 1 0,-17 62 0,29-86 0,1 1 0,2 1 0,-4 36 0,4-21 0,2-22 0,-5 38 0,-2 92 0,9-63 0,3 71 0,1-138 0,1-1 0,1 1 0,0-1 0,2 0 0,0 0 0,20 34 0,-27-52 0,34 80 0,-25-56 0,2 0 0,21 38 0,-13-17 0,-3-5 0,8 7 0,-13-25 0,1 0 0,22 31 0,73 116 0,-92-145 0,15 21 0,58 69 0,-10-16 0,-7-15 0,-32-42 0,111 133 0,-99-124 0,-37-38 0,0 1 0,23 30 0,2-3 0,-6-7 0,76 101 0,-8-8 0,23 20 0,-80-100 0,-3 3 0,41 63 0,-49-68 0,-25-36 0,-1-1 0,-1 1 0,0 1 0,0-1 0,-1 1 0,7 16 0,13 28 0,-19-45 0,-1 1 0,-1 0 0,1 0 0,4 18 0,25 76 0,-29-83 0,16 37 0,-14-40 0,-1-1 0,-1 1 0,5 26 0,7 37 0,-10-51 0,4 34 0,9 46 0,-5-28 0,-9-44 0,-1-14 0,-2 0 0,1 30 0,-3-20 0,1-1 0,2 1 0,16 65 0,-11-50 0,-8-36 0,1-1 0,0 1 0,8 19 0,2 4 0,14 70 0,-20-76 0,21 75 0,-21-79 0,13 39 0,-13-46 0,0 0 0,-1 0 0,-1 1 0,2 22 0,-3-15 0,1-1 0,7 27 0,-6-29 0,0-1 0,-1 1 0,0 27 0,-2-10 0,13 72 0,-8-73 0,-2 0 0,0 41 0,-5 988 0,-1-1053 0,-1 0 0,-4 22 0,3-22 0,0 1 0,0 19 0,3 473 0,1-493 0,1 0 0,4 22 0,-2-22 0,-2 1 0,2 19 0,-2 7 0,3-1 0,2-1 0,1 1 0,15 43 0,-14-33 0,-7-40 0,0 0 0,0 0 0,7 19 0,8 25 0,-12-39 0,1 1 0,14 30 0,28 59 0,-28-71 0,0-1 0,3-1 0,0-1 0,2-1 0,53 52 0,-52-61 0,2-2 0,30 19 0,-25-18 0,-3-5 0,1-1 0,1-1 0,1-2 0,47 13 0,-49-16 0,-14-6 0,0 0 0,0-1 0,35 1 0,20 3 0,-23-1 0,1-2 0,91-6 0,-48 0 0,54 4 0,157-4 0,-272-2 0,0-1 0,37-12 0,-41 9 0,1 2 0,57-6 0,-59 9 0,0 0 0,0-2 0,33-11 0,-35 9 0,0 1 0,0 0 0,48-2 0,-46 6 0,-1-1 0,0-1 0,40-13 0,-36 9 0,0 2 0,31-4 0,-25 5 0,-1-1 0,34-11 0,-33 8 0,58-9 0,-68 14 0,-1-1 0,37-12 0,-37 9 0,2 1 0,28-4 0,-33 7 0,-1-1 0,38-13 0,-35 10 0,40-9 0,-36 11 0,52-20 0,-14 3 0,-40 14 0,33-16 0,-3 1 0,176-77 0,-173 73 0,72-45 0,-68 36 0,-53 31 0,15-7 0,0-2 0,-1 0 0,-1-1 0,-1-2 0,23-22 0,-25 19 0,73-85 0,-78 84 0,-1-1 0,0-1 0,-2 0 0,-1-1 0,-1 0 0,8-33 0,21-51 0,-8 18 0,-5 13 0,16-46 0,4 12 0,-10 10 0,-11 23 0,-19 55 0,14-35 0,-2 12 0,15-66 0,8-22 0,-26 73 0,-12 48 0,0-1 0,7-19 0,-3 13 0,-1-1 0,5-37 0,4-15 0,-9 54 0,2-10 0,-1 0 0,4-32 0,-5 25 0,14-51 0,-13 61 0,-1 0 0,0-1 0,-2 0 0,0-28 0,-3 35 0,1-1 0,1 1 0,8-29 0,-6 28 0,0 0 0,-2 0 0,2-26 0,5-81 0,-3 65 0,0 3 0,3-71 0,-10-383 0,-10 410 0,1 2 0,7 74 0,-1-1 0,-2 1 0,-12-43 0,-7-39 0,-1-19 0,10 63 0,-6-10 0,14 59 0,1 0 0,2 0 0,0-1 0,-3-24 0,5 19 0,-1 0 0,-9-29 0,7 31 0,0 0 0,-2-43 0,5 41 0,-2 1 0,0 0 0,-1 0 0,-8-23 0,4 16 0,-8-46 0,0 4 0,0 3 0,14 55 0,-1 0 0,0 0 0,-13-26 0,-5-17 0,-23-101 0,26 102 0,8 25 0,-9-41 0,-11-50 0,27 101 0,-1-1 0,-12-28 0,9 26 0,-9-34 0,-15-57 0,21 80 0,-9-13 0,14 36 0,1 0 0,0 0 0,-3-17 0,-17-49 0,12 45 0,-38-82 0,33 71 0,-37-63 0,33 64 0,16 29 0,-1 0 0,0 1 0,-1 0 0,-16-20 0,-39-49 0,15 17 0,24 37 0,-12-17 0,-2 1 0,-49-42 0,15 13 0,47 45 0,-15-13 0,-2 3 0,-2 1 0,-1 2 0,-60-35 0,-16-16 0,49 32 0,65 50 0,-195-146 0,-27-29 0,215 169 0,-8-6 0,0 1 0,-38-19 0,20 7 0,33 22 0,1 0 0,0 1 0,-1-1 0,-12-5 0,1 2 0,1-2 0,-1 0 0,-27-22 0,28 18 0,-1 2 0,0 1 0,-21-10 0,24 13-455,0 1 0,-25-19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26T11:34:45.622"/>
    </inkml:context>
    <inkml:brush xml:id="br0">
      <inkml:brushProperty name="width" value="0.2" units="cm"/>
      <inkml:brushProperty name="height" value="0.2" units="cm"/>
      <inkml:brushProperty name="color" value="#008C3A"/>
    </inkml:brush>
  </inkml:definitions>
  <inkml:trace contextRef="#ctx0" brushRef="#br0">0 495 24575,'0'-29'0,"1"-1"0,1 0 0,8-33 0,-8 52 0,2-1 0,-1 1 0,1 0 0,1 0 0,0 1 0,0 0 0,1-1 0,1 2 0,-1-1 0,2 1 0,8-9 0,9-8 0,-10 9 0,1 1 0,1 1 0,22-16 0,-21 19 0,-5 2 0,1 1 0,23-10 0,-17 9 0,-11 6 0,0 0 0,0 0 0,1 1 0,-1 0 0,16-2 0,40-4 0,98 1 0,-93 7 0,-44-1 0,0 1 0,0 1 0,0 2 0,0 1 0,36 7 0,95 51 0,-137-52 0,5 2 0,0 2 0,-1 0 0,35 26 0,-8-2 0,-27-21 0,0 2 0,-1 0 0,34 37 0,-33-30 0,-15-18 0,-2 1 0,1 1 0,8 11 0,3 10 0,-4-9 0,-1 1 0,-1 0 0,0 1 0,-2 1 0,14 42 0,-11-19 0,-8-30 0,-1 1 0,-1 0 0,0 0 0,-2 0 0,2 22 0,-4 17 0,-2 79 0,-2-113 0,-1 0 0,-1 0 0,-1 0 0,-16 34 0,13-34 0,-12 20 0,-3 7 0,16-30 0,0-1 0,-2-1 0,1 0 0,-2 0 0,-20 23 0,-10 15 0,-40 48 0,8-28 0,13-12 0,-27 36 0,57-67 0,23-24 0,0 0 0,-14 19 0,-51 85 0,35-50 0,-50 98 0,75-132 0,-18 58 0,-5 71 0,25-104 0,3 0 0,1 0 0,2 65 0,6-78 0,12 79 0,-8-78 0,-4-29 0,0-1 0,1 0 0,1 1 0,6 17 0,5 8 0,-9-20 0,2-1 0,0 0 0,17 27 0,-6-11 0,-15-25 0,1-1 0,1 1 0,-1-1 0,2 1 0,6 7 0,1-2 0,-1 0 0,2-1 0,0 0 0,0-2 0,1 1 0,0-2 0,31 15 0,-30-17 0,1 0 0,0-1 0,0-1 0,0 0 0,1-1 0,0-1 0,31 1 0,28-3 0,92-4 0,-151 0 0,0 0 0,-1-2 0,22-7 0,9-3 0,110-25 0,-21-8 0,-122 43-195,0-1 0,0-1 0,-1-1 0,0 0 0,0-1 0,21-17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26T11:34:46.380"/>
    </inkml:context>
    <inkml:brush xml:id="br0">
      <inkml:brushProperty name="width" value="0.2" units="cm"/>
      <inkml:brushProperty name="height" value="0.2" units="cm"/>
      <inkml:brushProperty name="color" value="#008C3A"/>
    </inkml:brush>
  </inkml:definitions>
  <inkml:trace contextRef="#ctx0" brushRef="#br0">52 3 24575,'-2'0'0,"-1"0"0,1 1 0,0 0 0,-1-1 0,1 1 0,0 0 0,0 0 0,-1 0 0,1 0 0,0 0 0,0 1 0,0-1 0,0 1 0,0-1 0,1 1 0,-1 0 0,0-1 0,1 1 0,0 0 0,-1 0 0,1 0 0,0 1 0,0-1 0,0 0 0,-2 4 0,3-4 0,-1-1 0,1 0 0,0 1 0,-1-1 0,1 1 0,0-1 0,0 0 0,-1 1 0,1-1 0,0 1 0,1-1 0,-1 1 0,0-1 0,0 0 0,1 1 0,-1-1 0,0 1 0,1-1 0,0 0 0,-1 0 0,1 1 0,0-1 0,-1 0 0,1 0 0,0 0 0,0 0 0,0 0 0,0 0 0,0 0 0,0 0 0,0 0 0,1 0 0,-1 0 0,0-1 0,0 1 0,1-1 0,-1 1 0,0-1 0,1 1 0,-1-1 0,1 0 0,2 1 0,-3-1 4,1 0 0,-1 0-1,1 0 1,0-1-1,-1 1 1,1 0 0,-1-1-1,1 1 1,-1-1 0,1 0-1,-1 1 1,1-1-1,-1 0 1,0 0 0,1 0-1,-1 0 1,0 0 0,0 0-1,0 0 1,0 0-1,0-1 1,0 1 0,0 0-1,0-1 1,0 1 0,0-1-1,-1 1 1,1-1-1,-1 1 1,1-1 0,-1 1-1,1-4 1,0 2-97,-1 0 0,1 0 1,-1 0-1,1-1 0,-1 1 0,0 0 0,0 0 0,0-1 1,-1 1-1,1 0 0,-1 0 0,0 0 0,0 0 1,0-1-1,-2-3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FB26607-E92F-9E9E-F431-2DB216AE92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F8243-8A8A-2565-2926-7A54AEF2908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latin typeface="+mn-lt"/>
                <a:cs typeface="+mn-cs"/>
              </a:defRPr>
            </a:lvl1pPr>
          </a:lstStyle>
          <a:p>
            <a:pPr>
              <a:defRPr/>
            </a:pPr>
            <a:fld id="{AEC6D6C3-8FBE-4F28-817F-7099D6EC1BCF}" type="datetimeFigureOut">
              <a:rPr lang="cs-CZ"/>
              <a:pPr>
                <a:defRPr/>
              </a:pPr>
              <a:t>04.12.2024</a:t>
            </a:fld>
            <a:endParaRPr lang="cs-CZ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7F5D9D58-7F24-EE5E-91E6-304FE034F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36613" y="1143000"/>
            <a:ext cx="5184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cs-CZ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DE849F7-9C96-594C-03C5-21CE77987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cs-CZ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4F310D-62D8-50B1-C103-3571B4D593C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0604-44E4-891D-93B1-FA3F4B601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0C4C9A2-485E-47AF-BAC3-7736408F9B95}" type="slidenum">
              <a:rPr lang="cs-CZ" altLang="cs-CZ"/>
              <a:pPr>
                <a:defRPr/>
              </a:pPr>
              <a:t>‹#›</a:t>
            </a:fld>
            <a:endParaRPr lang="cs-CZ" alt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>
            <a:extLst>
              <a:ext uri="{FF2B5EF4-FFF2-40B4-BE49-F238E27FC236}">
                <a16:creationId xmlns:a16="http://schemas.microsoft.com/office/drawing/2014/main" id="{A8766AA0-0A48-117E-ACAE-67D645B5E65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584325"/>
            <a:ext cx="11522075" cy="444500"/>
          </a:xfrm>
          <a:prstGeom prst="rect">
            <a:avLst/>
          </a:prstGeom>
          <a:solidFill>
            <a:srgbClr val="005CAC"/>
          </a:solidFill>
          <a:ln w="12700" algn="ctr">
            <a:solidFill>
              <a:schemeClr val="bg2"/>
            </a:solidFill>
            <a:miter lim="800000"/>
            <a:headEnd/>
            <a:tailEnd/>
          </a:ln>
        </p:spPr>
        <p:txBody>
          <a:bodyPr anchor="ctr"/>
          <a:lstStyle>
            <a:lvl1pPr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endParaRPr lang="cs-CZ" altLang="cs-CZ" b="0">
              <a:solidFill>
                <a:srgbClr val="FFFFFF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F20F0CDF-B965-9C31-A5A9-83F56B4A1E0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100" y="123825"/>
            <a:ext cx="45720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itle 15"/>
          <p:cNvSpPr>
            <a:spLocks noGrp="1"/>
          </p:cNvSpPr>
          <p:nvPr>
            <p:ph type="title"/>
          </p:nvPr>
        </p:nvSpPr>
        <p:spPr>
          <a:xfrm>
            <a:off x="628648" y="3182778"/>
            <a:ext cx="78867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 err="1"/>
              <a:t>Click to edit Master title style</a:t>
            </a:r>
            <a:endParaRPr lang="x-non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/>
          </p:nvPr>
        </p:nvSpPr>
        <p:spPr>
          <a:xfrm>
            <a:off x="628650" y="4724400"/>
            <a:ext cx="4257675" cy="619125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cs-CZ" dirty="0" err="1"/>
              <a:t>Click to edit Master text styles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28648" y="5481637"/>
            <a:ext cx="4257675" cy="61912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cs-CZ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1296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E8308B03-CDE8-5B6E-A593-3BBEDF0BF8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475" y="6154738"/>
            <a:ext cx="701675" cy="684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0" i="0" baseline="0">
                <a:solidFill>
                  <a:schemeClr val="tx2"/>
                </a:solidFill>
                <a:latin typeface="Century Gothic" panose="020B0502020202020204" pitchFamily="34" charset="0"/>
                <a:ea typeface="Segoe UI Symbol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 baseline="0">
                <a:solidFill>
                  <a:schemeClr val="tx1">
                    <a:lumMod val="25000"/>
                  </a:schemeClr>
                </a:solidFill>
                <a:latin typeface="Century Gothic" panose="020B0502020202020204" pitchFamily="34" charset="0"/>
                <a:ea typeface="Segoe UI Symbol" panose="020B0502040204020203" pitchFamily="34" charset="0"/>
              </a:defRPr>
            </a:lvl1pPr>
            <a:lvl2pPr>
              <a:defRPr sz="2200" baseline="0">
                <a:solidFill>
                  <a:schemeClr val="tx1">
                    <a:lumMod val="25000"/>
                  </a:schemeClr>
                </a:solidFill>
                <a:latin typeface="Century Gothic" panose="020B0502020202020204" pitchFamily="34" charset="0"/>
                <a:ea typeface="Segoe UI Symbol" panose="020B0502040204020203" pitchFamily="34" charset="0"/>
              </a:defRPr>
            </a:lvl2pPr>
            <a:lvl3pPr>
              <a:defRPr sz="2000" baseline="0">
                <a:solidFill>
                  <a:schemeClr val="tx1">
                    <a:lumMod val="25000"/>
                  </a:schemeClr>
                </a:solidFill>
                <a:latin typeface="Century Gothic" panose="020B0502020202020204" pitchFamily="34" charset="0"/>
                <a:ea typeface="Segoe UI Symbol" panose="020B0502040204020203" pitchFamily="34" charset="0"/>
              </a:defRPr>
            </a:lvl3pPr>
            <a:lvl4pPr>
              <a:defRPr sz="1800" baseline="0">
                <a:solidFill>
                  <a:schemeClr val="tx1">
                    <a:lumMod val="25000"/>
                  </a:schemeClr>
                </a:solidFill>
                <a:latin typeface="Century Gothic" panose="020B0502020202020204" pitchFamily="34" charset="0"/>
                <a:ea typeface="Segoe UI Symbol" panose="020B0502040204020203" pitchFamily="34" charset="0"/>
              </a:defRPr>
            </a:lvl4pPr>
            <a:lvl5pPr>
              <a:defRPr sz="1600" baseline="0">
                <a:solidFill>
                  <a:schemeClr val="tx1">
                    <a:lumMod val="25000"/>
                  </a:schemeClr>
                </a:solidFill>
                <a:latin typeface="Century Gothic" panose="020B0502020202020204" pitchFamily="34" charset="0"/>
                <a:ea typeface="Segoe UI Symbol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216248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Pr>
        <a:solidFill>
          <a:srgbClr val="A5A7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623888" y="2002631"/>
            <a:ext cx="7886700" cy="2852737"/>
          </a:xfrm>
        </p:spPr>
        <p:txBody>
          <a:bodyPr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/>
          </p:nvPr>
        </p:nvSpPr>
        <p:spPr>
          <a:xfrm>
            <a:off x="623888" y="4863784"/>
            <a:ext cx="7886700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33017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11">
            <a:extLst>
              <a:ext uri="{FF2B5EF4-FFF2-40B4-BE49-F238E27FC236}">
                <a16:creationId xmlns:a16="http://schemas.microsoft.com/office/drawing/2014/main" id="{16E55EE8-C07E-11F4-E13B-89663F46DF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63" y="6446838"/>
            <a:ext cx="1538287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2" descr="Icon&#10;&#10;Description automatically generated">
            <a:extLst>
              <a:ext uri="{FF2B5EF4-FFF2-40B4-BE49-F238E27FC236}">
                <a16:creationId xmlns:a16="http://schemas.microsoft.com/office/drawing/2014/main" id="{0EC9572E-DDBA-D41A-17F2-2B73CE61F1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10493746" y="6176962"/>
            <a:ext cx="1028451" cy="681037"/>
          </a:xfrm>
          <a:prstGeom prst="rect">
            <a:avLst/>
          </a:prstGeom>
          <a:effectLst>
            <a:glow rad="127000">
              <a:schemeClr val="accent1">
                <a:alpha val="0"/>
              </a:schemeClr>
            </a:glow>
            <a:reflection stA="0" endPos="65000" dist="50800" dir="5400000" sy="-100000" algn="bl" rotWithShape="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solidFill>
                  <a:srgbClr val="002A58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bg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solidFill>
                  <a:schemeClr val="tx1">
                    <a:lumMod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bg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solidFill>
                  <a:schemeClr val="tx1">
                    <a:lumMod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880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7">
            <a:extLst>
              <a:ext uri="{FF2B5EF4-FFF2-40B4-BE49-F238E27FC236}">
                <a16:creationId xmlns:a16="http://schemas.microsoft.com/office/drawing/2014/main" id="{33F48BBE-7C99-7C2E-6719-65FFF883C3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63" y="6446838"/>
            <a:ext cx="1538287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8" descr="Icon&#10;&#10;Description automatically generated">
            <a:extLst>
              <a:ext uri="{FF2B5EF4-FFF2-40B4-BE49-F238E27FC236}">
                <a16:creationId xmlns:a16="http://schemas.microsoft.com/office/drawing/2014/main" id="{68F9F448-07B2-4431-9117-A7645F026C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10493746" y="6176962"/>
            <a:ext cx="1028451" cy="681037"/>
          </a:xfrm>
          <a:prstGeom prst="rect">
            <a:avLst/>
          </a:prstGeom>
          <a:effectLst>
            <a:glow rad="127000">
              <a:schemeClr val="accent1">
                <a:alpha val="0"/>
              </a:schemeClr>
            </a:glow>
            <a:reflection stA="0" endPos="65000" dist="50800" dir="5400000" sy="-100000" algn="bl" rotWithShape="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945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6">
            <a:extLst>
              <a:ext uri="{FF2B5EF4-FFF2-40B4-BE49-F238E27FC236}">
                <a16:creationId xmlns:a16="http://schemas.microsoft.com/office/drawing/2014/main" id="{90389FCA-7117-9D80-DE0D-3AC201E0AD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63" y="6446838"/>
            <a:ext cx="1538287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7" descr="Icon&#10;&#10;Description automatically generated">
            <a:extLst>
              <a:ext uri="{FF2B5EF4-FFF2-40B4-BE49-F238E27FC236}">
                <a16:creationId xmlns:a16="http://schemas.microsoft.com/office/drawing/2014/main" id="{F48B5ED7-4BCD-A38C-5504-62C9AAF3EB9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10493746" y="6176962"/>
            <a:ext cx="1028451" cy="681037"/>
          </a:xfrm>
          <a:prstGeom prst="rect">
            <a:avLst/>
          </a:prstGeom>
          <a:effectLst>
            <a:glow rad="127000">
              <a:schemeClr val="accent1">
                <a:alpha val="0"/>
              </a:schemeClr>
            </a:glow>
            <a:reflection stA="0" endPos="65000" dist="508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89407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9">
            <a:extLst>
              <a:ext uri="{FF2B5EF4-FFF2-40B4-BE49-F238E27FC236}">
                <a16:creationId xmlns:a16="http://schemas.microsoft.com/office/drawing/2014/main" id="{E438D3B3-8C6C-6EBB-D560-219EEBC56D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63" y="6446838"/>
            <a:ext cx="1538287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0" descr="Icon&#10;&#10;Description automatically generated">
            <a:extLst>
              <a:ext uri="{FF2B5EF4-FFF2-40B4-BE49-F238E27FC236}">
                <a16:creationId xmlns:a16="http://schemas.microsoft.com/office/drawing/2014/main" id="{4491ED2F-0BD3-B663-2D10-FBB9F6DBAA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10493746" y="6176962"/>
            <a:ext cx="1028451" cy="681037"/>
          </a:xfrm>
          <a:prstGeom prst="rect">
            <a:avLst/>
          </a:prstGeom>
          <a:effectLst>
            <a:glow rad="127000">
              <a:schemeClr val="accent1">
                <a:alpha val="0"/>
              </a:schemeClr>
            </a:glow>
            <a:reflection stA="0" endPos="65000" dist="50800" dir="5400000" sy="-100000" algn="bl" rotWithShape="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13495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9">
            <a:extLst>
              <a:ext uri="{FF2B5EF4-FFF2-40B4-BE49-F238E27FC236}">
                <a16:creationId xmlns:a16="http://schemas.microsoft.com/office/drawing/2014/main" id="{2B2E9A12-40C5-5A44-632A-88192AB0BE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63" y="6446838"/>
            <a:ext cx="1538287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0" descr="Icon&#10;&#10;Description automatically generated">
            <a:extLst>
              <a:ext uri="{FF2B5EF4-FFF2-40B4-BE49-F238E27FC236}">
                <a16:creationId xmlns:a16="http://schemas.microsoft.com/office/drawing/2014/main" id="{49FE2AFE-37EA-1207-94DD-4D75A150D1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10493746" y="6176962"/>
            <a:ext cx="1028451" cy="681037"/>
          </a:xfrm>
          <a:prstGeom prst="rect">
            <a:avLst/>
          </a:prstGeom>
          <a:effectLst>
            <a:glow rad="127000">
              <a:schemeClr val="accent1">
                <a:alpha val="0"/>
              </a:schemeClr>
            </a:glow>
            <a:reflection stA="0" endPos="65000" dist="50800" dir="5400000" sy="-100000" algn="bl" rotWithShape="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918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>
            <a:extLst>
              <a:ext uri="{FF2B5EF4-FFF2-40B4-BE49-F238E27FC236}">
                <a16:creationId xmlns:a16="http://schemas.microsoft.com/office/drawing/2014/main" id="{40B709DB-7FA7-53AB-3D5E-7CF172E19A3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584325"/>
            <a:ext cx="11522075" cy="444500"/>
          </a:xfrm>
          <a:prstGeom prst="rect">
            <a:avLst/>
          </a:prstGeom>
          <a:solidFill>
            <a:srgbClr val="005CAC"/>
          </a:solidFill>
          <a:ln w="12700" algn="ctr">
            <a:solidFill>
              <a:schemeClr val="bg2"/>
            </a:solidFill>
            <a:miter lim="800000"/>
            <a:headEnd/>
            <a:tailEnd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 sz="1701" b="0">
              <a:solidFill>
                <a:schemeClr val="lt1"/>
              </a:solidFill>
              <a:latin typeface="+mn-lt"/>
              <a:cs typeface="+mn-cs"/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80C6870E-8D2D-F082-D006-FB33596968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100" y="123825"/>
            <a:ext cx="45720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itle 15"/>
          <p:cNvSpPr>
            <a:spLocks noGrp="1"/>
          </p:cNvSpPr>
          <p:nvPr>
            <p:ph type="title"/>
          </p:nvPr>
        </p:nvSpPr>
        <p:spPr>
          <a:xfrm>
            <a:off x="628648" y="3182780"/>
            <a:ext cx="78867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 err="1"/>
              <a:t>Click to edit Master title style</a:t>
            </a:r>
            <a:endParaRPr lang="x-non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/>
          </p:nvPr>
        </p:nvSpPr>
        <p:spPr>
          <a:xfrm>
            <a:off x="628651" y="4724402"/>
            <a:ext cx="4257675" cy="619125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32100" indent="0">
              <a:buNone/>
              <a:defRPr>
                <a:solidFill>
                  <a:schemeClr val="bg1"/>
                </a:solidFill>
              </a:defRPr>
            </a:lvl2pPr>
            <a:lvl3pPr marL="864199" indent="0">
              <a:buNone/>
              <a:defRPr>
                <a:solidFill>
                  <a:schemeClr val="bg1"/>
                </a:solidFill>
              </a:defRPr>
            </a:lvl3pPr>
            <a:lvl4pPr marL="1296299" indent="0">
              <a:buNone/>
              <a:defRPr>
                <a:solidFill>
                  <a:schemeClr val="bg1"/>
                </a:solidFill>
              </a:defRPr>
            </a:lvl4pPr>
            <a:lvl5pPr marL="1728399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cs-CZ" dirty="0" err="1"/>
              <a:t>Click to edit Master text styles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28649" y="5481639"/>
            <a:ext cx="4257675" cy="619125"/>
          </a:xfrm>
        </p:spPr>
        <p:txBody>
          <a:bodyPr>
            <a:normAutofit/>
          </a:bodyPr>
          <a:lstStyle>
            <a:lvl1pPr marL="0" indent="0">
              <a:buNone/>
              <a:defRPr sz="1890">
                <a:solidFill>
                  <a:schemeClr val="bg1"/>
                </a:solidFill>
              </a:defRPr>
            </a:lvl1pPr>
            <a:lvl2pPr marL="432100" indent="0">
              <a:buNone/>
              <a:defRPr>
                <a:solidFill>
                  <a:schemeClr val="bg1"/>
                </a:solidFill>
              </a:defRPr>
            </a:lvl2pPr>
            <a:lvl3pPr marL="864199" indent="0">
              <a:buNone/>
              <a:defRPr>
                <a:solidFill>
                  <a:schemeClr val="bg1"/>
                </a:solidFill>
              </a:defRPr>
            </a:lvl3pPr>
            <a:lvl4pPr marL="1296299" indent="0">
              <a:buNone/>
              <a:defRPr>
                <a:solidFill>
                  <a:schemeClr val="bg1"/>
                </a:solidFill>
              </a:defRPr>
            </a:lvl4pPr>
            <a:lvl5pPr marL="1728399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cs-CZ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66161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D921485C-2352-4C0B-4B3A-0C3F37D5F4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92163" y="365125"/>
            <a:ext cx="993775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cs-CZ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49BBFBA3-04E2-CDC0-D798-A39F293FA82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92163" y="1825625"/>
            <a:ext cx="993775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cs-CZ"/>
              <a:t>Click to edit Master text styles</a:t>
            </a:r>
          </a:p>
          <a:p>
            <a:pPr lvl="1"/>
            <a:r>
              <a:rPr lang="en-US" altLang="cs-CZ"/>
              <a:t>Second level</a:t>
            </a:r>
          </a:p>
          <a:p>
            <a:pPr lvl="2"/>
            <a:r>
              <a:rPr lang="en-US" altLang="cs-CZ"/>
              <a:t>Third level</a:t>
            </a:r>
          </a:p>
          <a:p>
            <a:pPr lvl="3"/>
            <a:r>
              <a:rPr lang="en-US" altLang="cs-CZ"/>
              <a:t>Fourth level</a:t>
            </a:r>
          </a:p>
          <a:p>
            <a:pPr lvl="4"/>
            <a:r>
              <a:rPr lang="en-US" altLang="cs-CZ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15DBA-B6C4-BFB1-E1D2-4FB9D70B8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2163" y="6356350"/>
            <a:ext cx="25923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6427B4E-E819-402E-9590-20C0A19C4526}" type="datetimeFigureOut">
              <a:rPr lang="cs-CZ"/>
              <a:pPr>
                <a:defRPr/>
              </a:pPr>
              <a:t>04.12.2024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C6BF2-7897-7372-59AC-74108DEA9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6350" y="6356350"/>
            <a:ext cx="38893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028B6-8642-5C09-764F-CB86EE4D04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137525" y="6356350"/>
            <a:ext cx="259238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rgbClr val="EFF0EF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fld id="{FE379117-7F2C-48AB-A641-E4990E294F74}" type="slidenum">
              <a:rPr lang="cs-CZ" altLang="cs-CZ"/>
              <a:pPr>
                <a:defRPr/>
              </a:pPr>
              <a:t>‹#›</a:t>
            </a:fld>
            <a:endParaRPr lang="cs-CZ" alt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45/3386723.3387851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mathmemes/comments/uoc3zq/interesting_survey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2.xml"/><Relationship Id="rId4" Type="http://schemas.openxmlformats.org/officeDocument/2006/relationships/image" Target="../media/image7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winelo.cz/j-normalni-rozdeleni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types-of-keys-in-relational-model-candidate-super-primary-alternate-and-foreign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theknowledgeacademy.com/blog/types-of-data-in-statistic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A01EEEF1-F658-70BC-69D6-A985A47A68B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065213" y="3197225"/>
            <a:ext cx="9523412" cy="1252538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 err="1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Základy</a:t>
            </a:r>
            <a:r>
              <a:rPr lang="en-US" altLang="cs-CZ" dirty="0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altLang="cs-CZ" dirty="0" err="1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statistického</a:t>
            </a:r>
            <a:r>
              <a:rPr lang="en-US" altLang="cs-CZ" dirty="0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altLang="cs-CZ" dirty="0" err="1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zpracování</a:t>
            </a:r>
            <a:r>
              <a:rPr lang="en-US" altLang="cs-CZ" dirty="0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altLang="cs-CZ" dirty="0" err="1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dat</a:t>
            </a:r>
            <a:r>
              <a:rPr lang="en-US" altLang="cs-CZ" dirty="0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v MS Excel pro </a:t>
            </a:r>
            <a:r>
              <a:rPr lang="en-US" altLang="cs-CZ" dirty="0" err="1">
                <a:solidFill>
                  <a:srgbClr val="0074B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vědce</a:t>
            </a:r>
            <a:endParaRPr lang="en-US" altLang="cs-CZ" dirty="0">
              <a:solidFill>
                <a:srgbClr val="0074B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2643" name="Text Placeholder 2">
            <a:extLst>
              <a:ext uri="{FF2B5EF4-FFF2-40B4-BE49-F238E27FC236}">
                <a16:creationId xmlns:a16="http://schemas.microsoft.com/office/drawing/2014/main" id="{C654B9FF-3FFC-C718-BEED-3EACB4B9E049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065213" y="4652963"/>
            <a:ext cx="5068887" cy="585787"/>
          </a:xfrm>
        </p:spPr>
        <p:txBody>
          <a:bodyPr lIns="86416" tIns="43208" rIns="86416" bIns="43208" rtlCol="0">
            <a:normAutofit/>
          </a:bodyPr>
          <a:lstStyle/>
          <a:p>
            <a:pPr marL="0" indent="0" eaLnBrk="1" hangingPunct="1">
              <a:buFont typeface="Arial" panose="020B0604020202020204" pitchFamily="34" charset="0"/>
              <a:buNone/>
              <a:defRPr/>
            </a:pPr>
            <a:r>
              <a:rPr lang="cs-CZ" altLang="cs-CZ" sz="2457" dirty="0">
                <a:solidFill>
                  <a:srgbClr val="34465C"/>
                </a:solidFill>
                <a:latin typeface="Poppins"/>
                <a:cs typeface="Poppins"/>
              </a:rPr>
              <a:t>Michal Lauer</a:t>
            </a:r>
            <a:endParaRPr lang="cs-CZ" altLang="cs-CZ" sz="2457" dirty="0">
              <a:solidFill>
                <a:srgbClr val="34465C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12644" name="Text Placeholder 3">
            <a:extLst>
              <a:ext uri="{FF2B5EF4-FFF2-40B4-BE49-F238E27FC236}">
                <a16:creationId xmlns:a16="http://schemas.microsoft.com/office/drawing/2014/main" id="{84968EA8-631E-C275-81B0-24A776DD2CC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065213" y="5368925"/>
            <a:ext cx="5068887" cy="585788"/>
          </a:xfrm>
        </p:spPr>
        <p:txBody>
          <a:bodyPr lIns="86416" tIns="43208" rIns="86416" bIns="43208" rtlCol="0">
            <a:normAutofit/>
          </a:bodyPr>
          <a:lstStyle/>
          <a:p>
            <a:pPr marL="0" indent="0" eaLnBrk="1" hangingPunct="1">
              <a:buFont typeface="Arial" panose="020B0604020202020204" pitchFamily="34" charset="0"/>
              <a:buNone/>
              <a:defRPr/>
            </a:pPr>
            <a:r>
              <a:rPr lang="cs-CZ" altLang="cs-CZ" sz="1890" dirty="0">
                <a:solidFill>
                  <a:srgbClr val="34465C"/>
                </a:solidFill>
                <a:latin typeface="Poppins"/>
                <a:cs typeface="Poppins"/>
              </a:rPr>
              <a:t>4. 12. 2024 – 5. 12.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E2153CDF-E55E-CB17-33D2-E01E2FA9D07E}"/>
              </a:ext>
            </a:extLst>
          </p:cNvPr>
          <p:cNvSpPr>
            <a:spLocks/>
          </p:cNvSpPr>
          <p:nvPr/>
        </p:nvSpPr>
        <p:spPr bwMode="auto">
          <a:xfrm>
            <a:off x="3511643" y="2620963"/>
            <a:ext cx="4413068" cy="833150"/>
          </a:xfrm>
          <a:prstGeom prst="rect">
            <a:avLst/>
          </a:prstGeom>
          <a:noFill/>
          <a:ln>
            <a:noFill/>
          </a:ln>
        </p:spPr>
        <p:txBody>
          <a:bodyPr wrap="none" lIns="0" tIns="108000" rIns="0" bIns="108000">
            <a:spAutoFit/>
          </a:bodyPr>
          <a:lstStyle>
            <a:lvl1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>
                <a:solidFill>
                  <a:srgbClr val="005CAC"/>
                </a:solidFill>
                <a:latin typeface="Century Gothic" panose="020B0502020202020204" pitchFamily="34" charset="0"/>
              </a:defRPr>
            </a:lvl1pPr>
            <a:lvl2pPr marL="685800" indent="-228600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>
                <a:solidFill>
                  <a:srgbClr val="4D4D4D"/>
                </a:solidFill>
                <a:latin typeface="Century Gothic" panose="020B0502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>
                <a:solidFill>
                  <a:srgbClr val="4D4D4D"/>
                </a:solidFill>
                <a:latin typeface="Century Gothic" panose="020B0502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9pPr>
          </a:lstStyle>
          <a:p>
            <a:pPr algn="ctr" defTabSz="914400" eaLnBrk="1" hangingPunct="1">
              <a:lnSpc>
                <a:spcPct val="90000"/>
              </a:lnSpc>
              <a:buFont typeface="Arial" panose="020B0604020202020204" pitchFamily="34" charset="0"/>
              <a:buNone/>
              <a:defRPr/>
            </a:pPr>
            <a:r>
              <a:rPr lang="cs-CZ" altLang="cs-CZ" sz="4400" b="0" dirty="0">
                <a:solidFill>
                  <a:srgbClr val="0074B0"/>
                </a:solidFill>
                <a:latin typeface="Poppins"/>
                <a:ea typeface="+mj-ea"/>
                <a:cs typeface="Poppins"/>
              </a:rPr>
              <a:t>Datová analýza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64545" y="1587477"/>
            <a:ext cx="3333749" cy="3306835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1F21B58D-E165-E8C0-D50E-64D029EBB20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250CEEC1-A131-AE9C-042C-55B8D86766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9E7DDE-D83D-6A89-5F2E-7986199C4DBC}"/>
              </a:ext>
            </a:extLst>
          </p:cNvPr>
          <p:cNvSpPr txBox="1"/>
          <p:nvPr/>
        </p:nvSpPr>
        <p:spPr>
          <a:xfrm>
            <a:off x="472966" y="6085490"/>
            <a:ext cx="997011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TOUNSI, Youssef; ANOUN, Houda a HASSOUNI, Larbi. CSMAS. Online. In: </a:t>
            </a:r>
            <a:r>
              <a:rPr lang="en-US" sz="1050" b="0" i="1" dirty="0">
                <a:solidFill>
                  <a:srgbClr val="212529"/>
                </a:solidFill>
                <a:effectLst/>
                <a:latin typeface="Open Sans" pitchFamily="2" charset="0"/>
              </a:rPr>
              <a:t>Proceedings of the 3rd International Conference on Networking, Information Systems &amp; Security</a:t>
            </a:r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. New York, NY, USA: ACM, 2020, s. 1-7. ISBN 9781450376341. </a:t>
            </a:r>
            <a:r>
              <a:rPr lang="en-US" sz="1050" b="0" i="0" dirty="0" err="1">
                <a:solidFill>
                  <a:srgbClr val="212529"/>
                </a:solidFill>
                <a:effectLst/>
                <a:latin typeface="Open Sans" pitchFamily="2" charset="0"/>
              </a:rPr>
              <a:t>Dostupné</a:t>
            </a:r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 z: </a:t>
            </a:r>
            <a:r>
              <a:rPr lang="en-US" sz="1050" b="0" i="0" u="none" strike="noStrike" dirty="0">
                <a:effectLst/>
                <a:latin typeface="Open Sans" pitchFamily="2" charset="0"/>
                <a:hlinkClick r:id="rId3"/>
              </a:rPr>
              <a:t>https://doi.org/10.1145/3386723.3387851</a:t>
            </a:r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. [cit. 2024-11-26].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746DD60-9A92-7864-54AB-0138AA934936}"/>
              </a:ext>
            </a:extLst>
          </p:cNvPr>
          <p:cNvSpPr txBox="1"/>
          <p:nvPr/>
        </p:nvSpPr>
        <p:spPr>
          <a:xfrm>
            <a:off x="868680" y="6160348"/>
            <a:ext cx="5760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https://xkcd.com/927/</a:t>
            </a:r>
          </a:p>
        </p:txBody>
      </p:sp>
      <p:pic>
        <p:nvPicPr>
          <p:cNvPr id="6" name="Picture 2" descr="Standards">
            <a:extLst>
              <a:ext uri="{FF2B5EF4-FFF2-40B4-BE49-F238E27FC236}">
                <a16:creationId xmlns:a16="http://schemas.microsoft.com/office/drawing/2014/main" id="{0328DA68-F870-5486-970E-6312C0AA5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126" y="274566"/>
            <a:ext cx="9045138" cy="511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237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66C8-5823-CCCE-FA20-D11ADF7DA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E12AD676-F533-D667-1563-3ABE231944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4B83910B-329E-4AF0-C65A-D95EB7B79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9D9273-28D4-CF28-12C0-5076CF5FEEE3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Není to lineární proces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Existuje víc metodik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Používá se v různých odvětví</a:t>
            </a:r>
          </a:p>
        </p:txBody>
      </p:sp>
    </p:spTree>
    <p:extLst>
      <p:ext uri="{BB962C8B-B14F-4D97-AF65-F5344CB8AC3E}">
        <p14:creationId xmlns:p14="http://schemas.microsoft.com/office/powerpoint/2010/main" val="828625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04355-8307-B827-ECE1-DFCD760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0A0B95CF-FE9D-B4E7-7421-02EDA48B355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D4242B5C-D00B-44B8-D2EB-0726FBFE43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FB60CD7-6DC1-FBDB-8EA1-79F544C6C85A}"/>
              </a:ext>
            </a:extLst>
          </p:cNvPr>
          <p:cNvSpPr txBox="1"/>
          <p:nvPr/>
        </p:nvSpPr>
        <p:spPr>
          <a:xfrm>
            <a:off x="460353" y="643466"/>
            <a:ext cx="479271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r>
              <a:rPr lang="cs-CZ" dirty="0">
                <a:solidFill>
                  <a:srgbClr val="292929"/>
                </a:solidFill>
              </a:rPr>
              <a:t>Výzkumná otázka</a:t>
            </a:r>
            <a:endParaRPr lang="en-US" dirty="0">
              <a:solidFill>
                <a:srgbClr val="292929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5639AF-0761-DB8B-6606-89209009B449}"/>
              </a:ext>
            </a:extLst>
          </p:cNvPr>
          <p:cNvSpPr/>
          <p:nvPr/>
        </p:nvSpPr>
        <p:spPr>
          <a:xfrm>
            <a:off x="5864772" y="1496959"/>
            <a:ext cx="1589165" cy="908094"/>
          </a:xfrm>
          <a:prstGeom prst="rect">
            <a:avLst/>
          </a:prstGeom>
          <a:noFill/>
          <a:ln w="57150"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4FF3B3-7A79-B64B-7E8B-18F6BBAC1AB1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 fontScale="92500"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Co chci zjistit?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Dá se to změřit?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Jak a jaká data zjistit?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Je to etické/smysluplné?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Jak musím uchovávat data?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A co GDPR?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Co na to říká aktuální literatura?</a:t>
            </a:r>
          </a:p>
        </p:txBody>
      </p:sp>
    </p:spTree>
    <p:extLst>
      <p:ext uri="{BB962C8B-B14F-4D97-AF65-F5344CB8AC3E}">
        <p14:creationId xmlns:p14="http://schemas.microsoft.com/office/powerpoint/2010/main" val="2538035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teresting survey! : r/mathmemes">
            <a:extLst>
              <a:ext uri="{FF2B5EF4-FFF2-40B4-BE49-F238E27FC236}">
                <a16:creationId xmlns:a16="http://schemas.microsoft.com/office/drawing/2014/main" id="{68AEE44C-645C-9078-C5B3-1DC9BFD47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874" y="277933"/>
            <a:ext cx="6858000" cy="581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0890A9-C235-0CBD-7E1A-CE9A2B908215}"/>
              </a:ext>
            </a:extLst>
          </p:cNvPr>
          <p:cNvSpPr txBox="1"/>
          <p:nvPr/>
        </p:nvSpPr>
        <p:spPr>
          <a:xfrm>
            <a:off x="472966" y="6274676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  <a:hlinkClick r:id="rId3"/>
              </a:rPr>
              <a:t>https://www.reddit.com/r/mathmemes/comments/uoc3zq/interesting_survey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381463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60F01-EDE8-66A2-690F-414924B66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D1BCCC16-E65B-52A5-7AE7-7821248872E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0D358E96-9D87-5096-FE7D-155A35377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BB0597-A1C5-79F1-4C78-267FED3BBCA4}"/>
              </a:ext>
            </a:extLst>
          </p:cNvPr>
          <p:cNvSpPr txBox="1"/>
          <p:nvPr/>
        </p:nvSpPr>
        <p:spPr>
          <a:xfrm>
            <a:off x="460353" y="643466"/>
            <a:ext cx="479271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r>
              <a:rPr lang="cs-CZ" dirty="0">
                <a:solidFill>
                  <a:srgbClr val="292929"/>
                </a:solidFill>
              </a:rPr>
              <a:t>Sběr dat</a:t>
            </a:r>
            <a:endParaRPr lang="en-US" dirty="0">
              <a:solidFill>
                <a:srgbClr val="292929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185F9B-25E5-180D-2DD1-28C7B42533EA}"/>
              </a:ext>
            </a:extLst>
          </p:cNvPr>
          <p:cNvSpPr/>
          <p:nvPr/>
        </p:nvSpPr>
        <p:spPr>
          <a:xfrm>
            <a:off x="7855009" y="1493041"/>
            <a:ext cx="1589165" cy="908094"/>
          </a:xfrm>
          <a:prstGeom prst="rect">
            <a:avLst/>
          </a:prstGeom>
          <a:noFill/>
          <a:ln w="57150"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BB78CB-4217-C3F1-4A40-B312F4B92707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 fontScale="62500" lnSpcReduction="20000"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Reprezentativnost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Primární data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sz="2400" b="0" dirty="0">
                <a:solidFill>
                  <a:srgbClr val="292929"/>
                </a:solidFill>
              </a:rPr>
              <a:t>Vlastní dotazníkové šetření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sz="2400" b="0" dirty="0">
                <a:solidFill>
                  <a:srgbClr val="292929"/>
                </a:solidFill>
              </a:rPr>
              <a:t>Vlastní pozorování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sz="2400" b="0" dirty="0">
                <a:solidFill>
                  <a:srgbClr val="292929"/>
                </a:solidFill>
              </a:rPr>
              <a:t>Vlastní experimenty</a:t>
            </a:r>
          </a:p>
          <a:p>
            <a:pPr algn="l">
              <a:spcAft>
                <a:spcPts val="1200"/>
              </a:spcAft>
            </a:pPr>
            <a:endParaRPr lang="cs-CZ" sz="2400" b="0" dirty="0">
              <a:solidFill>
                <a:srgbClr val="292929"/>
              </a:solidFill>
            </a:endParaRP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Sekundární data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sz="2400" b="0" dirty="0">
                <a:solidFill>
                  <a:srgbClr val="292929"/>
                </a:solidFill>
              </a:rPr>
              <a:t>Externí zdroje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sz="2400" b="0" dirty="0">
                <a:solidFill>
                  <a:srgbClr val="292929"/>
                </a:solidFill>
              </a:rPr>
              <a:t>Externí databáze</a:t>
            </a:r>
          </a:p>
          <a:p>
            <a:pPr marL="342900" indent="-342900" algn="l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sz="2400" b="0" dirty="0">
                <a:solidFill>
                  <a:srgbClr val="292929"/>
                </a:solidFill>
              </a:rPr>
              <a:t>ČSU</a:t>
            </a:r>
          </a:p>
        </p:txBody>
      </p:sp>
    </p:spTree>
    <p:extLst>
      <p:ext uri="{BB962C8B-B14F-4D97-AF65-F5344CB8AC3E}">
        <p14:creationId xmlns:p14="http://schemas.microsoft.com/office/powerpoint/2010/main" val="3670286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1ACA2-FC88-D3CA-D088-D52C9D7C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DB517996-2E43-EEC5-0466-DEC4D5D9E00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8E262A71-26A0-3C89-99FD-E6D1D7FBB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F69A91-9B49-EA92-F123-A54215A11A4E}"/>
              </a:ext>
            </a:extLst>
          </p:cNvPr>
          <p:cNvSpPr txBox="1"/>
          <p:nvPr/>
        </p:nvSpPr>
        <p:spPr>
          <a:xfrm>
            <a:off x="460353" y="643466"/>
            <a:ext cx="479271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r>
              <a:rPr lang="cs-CZ" dirty="0">
                <a:solidFill>
                  <a:srgbClr val="292929"/>
                </a:solidFill>
              </a:rPr>
              <a:t>Příprava dat</a:t>
            </a:r>
            <a:endParaRPr lang="en-US" dirty="0">
              <a:solidFill>
                <a:srgbClr val="29292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2F180-7D63-0B55-E6A8-9078E619AA10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Validace dat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Kontrola smysluplnosti dat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Chybějící hodnoty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Ověření prvotních předpokladů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Tvorba nových proměnných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Zkoumání odlehlých hodnot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35A296-8017-F147-2CB1-339E8A5702A1}"/>
              </a:ext>
            </a:extLst>
          </p:cNvPr>
          <p:cNvSpPr/>
          <p:nvPr/>
        </p:nvSpPr>
        <p:spPr>
          <a:xfrm>
            <a:off x="8486681" y="2506649"/>
            <a:ext cx="1589165" cy="908094"/>
          </a:xfrm>
          <a:prstGeom prst="rect">
            <a:avLst/>
          </a:prstGeom>
          <a:noFill/>
          <a:ln w="57150"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0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B1E8C-516B-814E-EC62-DF0D50B6C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4F69BBC4-0734-57CD-DF0D-DB8D17FBE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05B4417D-635D-986D-D4F4-749EB457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2F0D2B-BD06-3FE5-F3DE-60B9C89E37C0}"/>
              </a:ext>
            </a:extLst>
          </p:cNvPr>
          <p:cNvSpPr txBox="1"/>
          <p:nvPr/>
        </p:nvSpPr>
        <p:spPr>
          <a:xfrm>
            <a:off x="460353" y="643466"/>
            <a:ext cx="479271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r>
              <a:rPr lang="cs-CZ" dirty="0">
                <a:solidFill>
                  <a:srgbClr val="292929"/>
                </a:solidFill>
              </a:rPr>
              <a:t>Datové modelování</a:t>
            </a:r>
            <a:endParaRPr lang="en-US" dirty="0">
              <a:solidFill>
                <a:srgbClr val="29292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03085-7567-B181-531F-14270076D851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Testování hypotéz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Regresní analýza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Korelační analýza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2AA897-30AD-C11C-04D5-681651F1947D}"/>
              </a:ext>
            </a:extLst>
          </p:cNvPr>
          <p:cNvSpPr/>
          <p:nvPr/>
        </p:nvSpPr>
        <p:spPr>
          <a:xfrm>
            <a:off x="8486681" y="3540867"/>
            <a:ext cx="1589165" cy="908094"/>
          </a:xfrm>
          <a:prstGeom prst="rect">
            <a:avLst/>
          </a:prstGeom>
          <a:noFill/>
          <a:ln w="57150"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199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0FB0D-FAF3-E8EC-9672-2F4E1DA2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28117EF-68F1-F371-3288-9E7111C37B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E59DAF89-FA6E-B742-A645-472648ED6A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1D7D13-9364-50D9-5A16-B602726CE8EE}"/>
              </a:ext>
            </a:extLst>
          </p:cNvPr>
          <p:cNvSpPr txBox="1"/>
          <p:nvPr/>
        </p:nvSpPr>
        <p:spPr>
          <a:xfrm>
            <a:off x="460353" y="643466"/>
            <a:ext cx="479271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r>
              <a:rPr lang="cs-CZ" dirty="0">
                <a:solidFill>
                  <a:srgbClr val="292929"/>
                </a:solidFill>
              </a:rPr>
              <a:t>Vyhodnocení</a:t>
            </a:r>
            <a:endParaRPr lang="en-US" dirty="0">
              <a:solidFill>
                <a:srgbClr val="29292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202D03-3644-3591-CFB3-E69D454FDD5D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Odpověď na výzkumné otázky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Limitace studie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Souhlasí výsledky s aktuálním poznáním?</a:t>
            </a:r>
          </a:p>
          <a:p>
            <a:pPr algn="l">
              <a:spcAft>
                <a:spcPts val="1200"/>
              </a:spcAft>
            </a:pPr>
            <a:endParaRPr lang="cs-CZ" sz="2400" b="0" dirty="0">
              <a:solidFill>
                <a:srgbClr val="292929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2F2041-CBAC-E079-559C-ABB8B05A9071}"/>
              </a:ext>
            </a:extLst>
          </p:cNvPr>
          <p:cNvSpPr/>
          <p:nvPr/>
        </p:nvSpPr>
        <p:spPr>
          <a:xfrm>
            <a:off x="6897516" y="4612922"/>
            <a:ext cx="1589165" cy="908094"/>
          </a:xfrm>
          <a:prstGeom prst="rect">
            <a:avLst/>
          </a:prstGeom>
          <a:noFill/>
          <a:ln w="57150">
            <a:solidFill>
              <a:srgbClr val="99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741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B6D95-BDB6-4EF2-CF1F-1528C18D3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2404BCEE-E9B5-F1CD-5753-056D440E551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CD4B339A-211A-5230-51D8-97EF99F45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Multiplication Sign 2">
            <a:extLst>
              <a:ext uri="{FF2B5EF4-FFF2-40B4-BE49-F238E27FC236}">
                <a16:creationId xmlns:a16="http://schemas.microsoft.com/office/drawing/2014/main" id="{8FB11E98-08CC-2999-C2AE-A8D18A1A7DEE}"/>
              </a:ext>
            </a:extLst>
          </p:cNvPr>
          <p:cNvSpPr/>
          <p:nvPr/>
        </p:nvSpPr>
        <p:spPr>
          <a:xfrm>
            <a:off x="5398114" y="2898114"/>
            <a:ext cx="1046830" cy="97232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05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B9410-2F54-55D7-11E9-FCDBAC0D8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FFBE9EDB-326E-44B0-8F2B-B91DC58096A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2175" y="1967266"/>
            <a:ext cx="248444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eaLnBrk="1" hangingPunct="1"/>
            <a:r>
              <a:rPr lang="en-US" altLang="cs-CZ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CRISP-DM</a:t>
            </a:r>
          </a:p>
        </p:txBody>
      </p:sp>
      <p:pic>
        <p:nvPicPr>
          <p:cNvPr id="1030" name="Picture 6" descr="CRISP-DM (data mining framework). | Download Scientific Diagram">
            <a:extLst>
              <a:ext uri="{FF2B5EF4-FFF2-40B4-BE49-F238E27FC236}">
                <a16:creationId xmlns:a16="http://schemas.microsoft.com/office/drawing/2014/main" id="{35ED2224-E274-19DF-706E-6B9878E16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09188" y="643466"/>
            <a:ext cx="5619363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DB08E77-0355-7382-4A2D-4F3C94FEEEDF}"/>
              </a:ext>
            </a:extLst>
          </p:cNvPr>
          <p:cNvGrpSpPr/>
          <p:nvPr/>
        </p:nvGrpSpPr>
        <p:grpSpPr>
          <a:xfrm>
            <a:off x="7736872" y="1234142"/>
            <a:ext cx="3354840" cy="3471480"/>
            <a:chOff x="7736872" y="1234142"/>
            <a:chExt cx="3354840" cy="347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7293D1E-0BFB-68D8-C2A1-257CBDCFD4F1}"/>
                    </a:ext>
                  </a:extLst>
                </p14:cNvPr>
                <p14:cNvContentPartPr/>
                <p14:nvPr/>
              </p14:nvContentPartPr>
              <p14:xfrm>
                <a:off x="7736872" y="1328822"/>
                <a:ext cx="2542320" cy="3376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7293D1E-0BFB-68D8-C2A1-257CBDCFD4F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01232" y="1292822"/>
                  <a:ext cx="2613960" cy="344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4C0A2FC-A385-65A3-D301-3464EEA2F71C}"/>
                    </a:ext>
                  </a:extLst>
                </p14:cNvPr>
                <p14:cNvContentPartPr/>
                <p14:nvPr/>
              </p14:nvContentPartPr>
              <p14:xfrm>
                <a:off x="10405192" y="1234142"/>
                <a:ext cx="686520" cy="1213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4C0A2FC-A385-65A3-D301-3464EEA2F71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369192" y="1198502"/>
                  <a:ext cx="758160" cy="12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604A97A-233C-68BF-6D04-3A5BFADEDCAA}"/>
                    </a:ext>
                  </a:extLst>
                </p14:cNvPr>
                <p14:cNvContentPartPr/>
                <p14:nvPr/>
              </p14:nvContentPartPr>
              <p14:xfrm>
                <a:off x="10796512" y="2805182"/>
                <a:ext cx="26640" cy="32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604A97A-233C-68BF-6D04-3A5BFADEDCA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760512" y="2769542"/>
                  <a:ext cx="98280" cy="1040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CE42E09-7611-F3C1-2B95-6403FC834B6E}"/>
              </a:ext>
            </a:extLst>
          </p:cNvPr>
          <p:cNvSpPr txBox="1"/>
          <p:nvPr/>
        </p:nvSpPr>
        <p:spPr>
          <a:xfrm>
            <a:off x="460353" y="643466"/>
            <a:ext cx="479271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r>
              <a:rPr lang="cs-CZ" dirty="0">
                <a:solidFill>
                  <a:srgbClr val="292929"/>
                </a:solidFill>
              </a:rPr>
              <a:t>Jak je to u vás?</a:t>
            </a:r>
            <a:endParaRPr lang="en-US" dirty="0">
              <a:solidFill>
                <a:srgbClr val="292929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AF5BBC-8491-AEB2-17F0-BCBD4FB1334B}"/>
              </a:ext>
            </a:extLst>
          </p:cNvPr>
          <p:cNvSpPr txBox="1"/>
          <p:nvPr/>
        </p:nvSpPr>
        <p:spPr>
          <a:xfrm>
            <a:off x="756744" y="1848130"/>
            <a:ext cx="4597225" cy="3159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lnSpc>
                <a:spcPct val="90000"/>
              </a:lnSpc>
              <a:defRPr sz="35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  <a:lvl2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2pPr>
            <a:lvl3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3pPr>
            <a:lvl4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4pPr>
            <a:lvl5pPr>
              <a:lnSpc>
                <a:spcPct val="90000"/>
              </a:lnSpc>
              <a:defRPr sz="4400">
                <a:latin typeface="Century Gothic" panose="020B050202020202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entury Gothic" panose="020B0502020202020204" pitchFamily="34" charset="0"/>
              </a:defRPr>
            </a:lvl9pPr>
          </a:lstStyle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S jakými daty pracujete?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Jak je získáváte?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Na jaké problémy narážíte?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Jak data čistíte?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Jaké metody používáte?</a:t>
            </a:r>
          </a:p>
          <a:p>
            <a:pPr algn="l">
              <a:spcAft>
                <a:spcPts val="1200"/>
              </a:spcAft>
            </a:pPr>
            <a:r>
              <a:rPr lang="cs-CZ" sz="2400" b="0" dirty="0">
                <a:solidFill>
                  <a:srgbClr val="292929"/>
                </a:solidFill>
              </a:rPr>
              <a:t>Jaké nástroje používáte?</a:t>
            </a:r>
          </a:p>
        </p:txBody>
      </p:sp>
    </p:spTree>
    <p:extLst>
      <p:ext uri="{BB962C8B-B14F-4D97-AF65-F5344CB8AC3E}">
        <p14:creationId xmlns:p14="http://schemas.microsoft.com/office/powerpoint/2010/main" val="2384419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4775D-B41A-86C7-AF1F-244817742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6001C327-2351-9F34-2373-2B447FE5CD55}"/>
              </a:ext>
            </a:extLst>
          </p:cNvPr>
          <p:cNvSpPr>
            <a:spLocks/>
          </p:cNvSpPr>
          <p:nvPr/>
        </p:nvSpPr>
        <p:spPr bwMode="auto">
          <a:xfrm>
            <a:off x="2761444" y="2620963"/>
            <a:ext cx="5913478" cy="833150"/>
          </a:xfrm>
          <a:prstGeom prst="rect">
            <a:avLst/>
          </a:prstGeom>
          <a:noFill/>
          <a:ln>
            <a:noFill/>
          </a:ln>
        </p:spPr>
        <p:txBody>
          <a:bodyPr wrap="none" lIns="0" tIns="108000" rIns="0" bIns="108000">
            <a:spAutoFit/>
          </a:bodyPr>
          <a:lstStyle>
            <a:lvl1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>
                <a:solidFill>
                  <a:srgbClr val="005CAC"/>
                </a:solidFill>
                <a:latin typeface="Century Gothic" panose="020B0502020202020204" pitchFamily="34" charset="0"/>
              </a:defRPr>
            </a:lvl1pPr>
            <a:lvl2pPr marL="685800" indent="-228600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>
                <a:solidFill>
                  <a:srgbClr val="4D4D4D"/>
                </a:solidFill>
                <a:latin typeface="Century Gothic" panose="020B0502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>
                <a:solidFill>
                  <a:srgbClr val="4D4D4D"/>
                </a:solidFill>
                <a:latin typeface="Century Gothic" panose="020B0502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9pPr>
          </a:lstStyle>
          <a:p>
            <a:pPr algn="ctr" defTabSz="914400" eaLnBrk="1" hangingPunct="1">
              <a:lnSpc>
                <a:spcPct val="90000"/>
              </a:lnSpc>
              <a:buFont typeface="Arial" panose="020B0604020202020204" pitchFamily="34" charset="0"/>
              <a:buNone/>
              <a:defRPr/>
            </a:pPr>
            <a:r>
              <a:rPr lang="cs-CZ" altLang="cs-CZ" sz="4400" b="0" dirty="0">
                <a:solidFill>
                  <a:srgbClr val="0074B0"/>
                </a:solidFill>
                <a:latin typeface="Poppins"/>
                <a:ea typeface="+mj-ea"/>
                <a:cs typeface="Poppins"/>
              </a:rPr>
              <a:t>Deskriptivní statistika</a:t>
            </a:r>
          </a:p>
        </p:txBody>
      </p:sp>
    </p:spTree>
    <p:extLst>
      <p:ext uri="{BB962C8B-B14F-4D97-AF65-F5344CB8AC3E}">
        <p14:creationId xmlns:p14="http://schemas.microsoft.com/office/powerpoint/2010/main" val="3559990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734E7-B040-4FD7-3287-6C0B75A06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93028-EC3C-D55D-B76D-4F7FD75DD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Statistika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CCE1E-7E8E-E224-12B0-EC98230A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Deskriptivní statistika – Lehký popis velkých dat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cs-CZ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cs-CZ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Inferenční statistika – Statistické úsudky o parametrech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cs-CZ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cs-CZ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Predikční statistika – Predikce nových hodnot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cs-CZ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099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61BFF-4A2D-F2C0-31BF-015582792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9C392-D798-A9FF-EF8A-36891AA73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Charakteristiky dat</a:t>
            </a:r>
            <a:endParaRPr lang="en-US" dirty="0"/>
          </a:p>
        </p:txBody>
      </p:sp>
      <p:pic>
        <p:nvPicPr>
          <p:cNvPr id="16386" name="Picture 2" descr="j-normální rozdělení - TWINELO">
            <a:extLst>
              <a:ext uri="{FF2B5EF4-FFF2-40B4-BE49-F238E27FC236}">
                <a16:creationId xmlns:a16="http://schemas.microsoft.com/office/drawing/2014/main" id="{A1834CB2-8D25-B76B-9CDD-803776A7E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7597" y="1533524"/>
            <a:ext cx="6247656" cy="4294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4AE667-0E20-EDE9-2A6E-9EAEB888B1C8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  <a:hlinkClick r:id="rId3"/>
              </a:rPr>
              <a:t>https://www.twinelo.cz/j-normalni-rozdeleni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02527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11C7-6878-A193-A456-EBB712C10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83894-63AA-6B69-4649-1E9795823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Charakteristiky polohy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994A1-CFEC-810C-4273-F09326D6E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Průměr – očekávaní hodnota ze všech dat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Modus – nejčastější hodnota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Medián – střední hodnota, hodnota uprostřed dat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Kvartily – rozdělují data na čtvrtiny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Decily – rozdělují data na desetiny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Percentily – rozdělují data na setiny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Kvantil – obecné rozdělení dat na dvě části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951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560B8-1E6A-E1F6-A4FE-F5980AFD5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71A5A-A436-0E67-7AEC-F20B7A8D2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Charakteristiky variability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AFA8E-411F-D4D3-B0EC-3EF9619CD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Rozptyl – v jednotkách na druhou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Směrodatná odchylka – v jednotkách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Rozpětí dat – maximum minus minimum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 err="1"/>
              <a:t>Mezikvartilový</a:t>
            </a:r>
            <a:r>
              <a:rPr lang="cs-CZ" dirty="0"/>
              <a:t> rozptyl – třetí kvartil minus první kvartil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337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1E08F-5249-7C28-B733-669301195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9F6-E77C-A4A9-DAE4-2E54B760D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62" y="2766219"/>
            <a:ext cx="9937750" cy="1325563"/>
          </a:xfrm>
        </p:spPr>
        <p:txBody>
          <a:bodyPr>
            <a:normAutofit/>
          </a:bodyPr>
          <a:lstStyle/>
          <a:p>
            <a:pPr algn="ctr"/>
            <a:r>
              <a:rPr lang="cs-CZ" sz="4400" dirty="0"/>
              <a:t>Používáte něco jiného vy?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4190561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B8CDA-5A61-4270-56B1-BA764B545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6E7A2053-CAF7-CE02-D72B-C90350587FA8}"/>
              </a:ext>
            </a:extLst>
          </p:cNvPr>
          <p:cNvSpPr>
            <a:spLocks/>
          </p:cNvSpPr>
          <p:nvPr/>
        </p:nvSpPr>
        <p:spPr bwMode="auto">
          <a:xfrm>
            <a:off x="3985333" y="2620963"/>
            <a:ext cx="3465692" cy="833150"/>
          </a:xfrm>
          <a:prstGeom prst="rect">
            <a:avLst/>
          </a:prstGeom>
          <a:noFill/>
          <a:ln>
            <a:noFill/>
          </a:ln>
        </p:spPr>
        <p:txBody>
          <a:bodyPr wrap="none" lIns="0" tIns="108000" rIns="0" bIns="108000">
            <a:spAutoFit/>
          </a:bodyPr>
          <a:lstStyle>
            <a:lvl1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>
                <a:solidFill>
                  <a:srgbClr val="005CAC"/>
                </a:solidFill>
                <a:latin typeface="Century Gothic" panose="020B0502020202020204" pitchFamily="34" charset="0"/>
              </a:defRPr>
            </a:lvl1pPr>
            <a:lvl2pPr marL="685800" indent="-228600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>
                <a:solidFill>
                  <a:srgbClr val="4D4D4D"/>
                </a:solidFill>
                <a:latin typeface="Century Gothic" panose="020B0502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>
                <a:solidFill>
                  <a:srgbClr val="4D4D4D"/>
                </a:solidFill>
                <a:latin typeface="Century Gothic" panose="020B0502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rgbClr val="292929"/>
                </a:solidFill>
                <a:latin typeface="Century Gothic" panose="020B0502020202020204" pitchFamily="34" charset="0"/>
              </a:defRPr>
            </a:lvl9pPr>
          </a:lstStyle>
          <a:p>
            <a:pPr algn="ctr" defTabSz="914400" eaLnBrk="1" hangingPunct="1">
              <a:lnSpc>
                <a:spcPct val="90000"/>
              </a:lnSpc>
              <a:buFont typeface="Arial" panose="020B0604020202020204" pitchFamily="34" charset="0"/>
              <a:buNone/>
              <a:defRPr/>
            </a:pPr>
            <a:r>
              <a:rPr lang="cs-CZ" altLang="cs-CZ" sz="4400" b="0" dirty="0">
                <a:solidFill>
                  <a:srgbClr val="0074B0"/>
                </a:solidFill>
                <a:latin typeface="Poppins"/>
                <a:ea typeface="+mj-ea"/>
                <a:cs typeface="Poppins"/>
              </a:rPr>
              <a:t>Příprava dat</a:t>
            </a:r>
          </a:p>
        </p:txBody>
      </p:sp>
    </p:spTree>
    <p:extLst>
      <p:ext uri="{BB962C8B-B14F-4D97-AF65-F5344CB8AC3E}">
        <p14:creationId xmlns:p14="http://schemas.microsoft.com/office/powerpoint/2010/main" val="1040437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FFD62-1E13-5755-262B-849A1D121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Příprava dat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682DB-47B0-1EBB-E8BE-25275A38F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= průzkumová analýza dat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Jaký máme hlavní identifikátor (primární klíč) ?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Jaké proměnné máme k dispozici?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Máme nějaké odlehlé proměnné? Dávají smysl?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Dávají data smyslnou věc?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Existují chybějící hodnoty?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cs-CZ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984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98F4-3A26-473B-CA19-8BF98D2D5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A731A-FE67-A72B-BE79-7C4C7B1DA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Hlavní identifikátor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F9912-FB9A-2E6A-5792-F968E7601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Ulehčuje práci s daty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Napojování dat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Kontrola struktury dat (unikátnost)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cs-CZ" dirty="0"/>
              <a:t>Primární klíč vs. cizí klíč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en-US" dirty="0"/>
          </a:p>
        </p:txBody>
      </p:sp>
      <p:pic>
        <p:nvPicPr>
          <p:cNvPr id="2050" name="Picture 2" descr="Types of Keys in Relational Model (Candidate, Super, Primary, Alternate and  Foreign) - GeeksforGeeks">
            <a:extLst>
              <a:ext uri="{FF2B5EF4-FFF2-40B4-BE49-F238E27FC236}">
                <a16:creationId xmlns:a16="http://schemas.microsoft.com/office/drawing/2014/main" id="{986AE3AB-4C3A-7626-7194-CA577EC42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8017" y="3265792"/>
            <a:ext cx="6092215" cy="3046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D428AE-CF24-BD17-0926-2EA288510AD6}"/>
              </a:ext>
            </a:extLst>
          </p:cNvPr>
          <p:cNvSpPr txBox="1"/>
          <p:nvPr/>
        </p:nvSpPr>
        <p:spPr>
          <a:xfrm>
            <a:off x="472966" y="6176963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  <a:hlinkClick r:id="rId3"/>
              </a:rPr>
              <a:t>https://www.geeksforgeeks.org/types-of-keys-in-relational-model-candidate-super-primary-alternate-and-foreign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0263957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4A9190A-4B38-94F3-A227-C3FF46D1F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943425"/>
              </p:ext>
            </p:extLst>
          </p:nvPr>
        </p:nvGraphicFramePr>
        <p:xfrm>
          <a:off x="929431" y="1408007"/>
          <a:ext cx="6770931" cy="19563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0503">
                  <a:extLst>
                    <a:ext uri="{9D8B030D-6E8A-4147-A177-3AD203B41FA5}">
                      <a16:colId xmlns:a16="http://schemas.microsoft.com/office/drawing/2014/main" val="2473856019"/>
                    </a:ext>
                  </a:extLst>
                </a:gridCol>
                <a:gridCol w="1310503">
                  <a:extLst>
                    <a:ext uri="{9D8B030D-6E8A-4147-A177-3AD203B41FA5}">
                      <a16:colId xmlns:a16="http://schemas.microsoft.com/office/drawing/2014/main" val="3145785425"/>
                    </a:ext>
                  </a:extLst>
                </a:gridCol>
                <a:gridCol w="1310503">
                  <a:extLst>
                    <a:ext uri="{9D8B030D-6E8A-4147-A177-3AD203B41FA5}">
                      <a16:colId xmlns:a16="http://schemas.microsoft.com/office/drawing/2014/main" val="2703318360"/>
                    </a:ext>
                  </a:extLst>
                </a:gridCol>
                <a:gridCol w="1310503">
                  <a:extLst>
                    <a:ext uri="{9D8B030D-6E8A-4147-A177-3AD203B41FA5}">
                      <a16:colId xmlns:a16="http://schemas.microsoft.com/office/drawing/2014/main" val="1941949241"/>
                    </a:ext>
                  </a:extLst>
                </a:gridCol>
                <a:gridCol w="1528919">
                  <a:extLst>
                    <a:ext uri="{9D8B030D-6E8A-4147-A177-3AD203B41FA5}">
                      <a16:colId xmlns:a16="http://schemas.microsoft.com/office/drawing/2014/main" val="351968350"/>
                    </a:ext>
                  </a:extLst>
                </a:gridCol>
              </a:tblGrid>
              <a:tr h="3260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Id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Rok sběru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 err="1">
                          <a:effectLst/>
                        </a:rPr>
                        <a:t>Věk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Kraj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Zaměstnání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90028416"/>
                  </a:ext>
                </a:extLst>
              </a:tr>
              <a:tr h="3260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2020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23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CZ010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A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20473160"/>
                  </a:ext>
                </a:extLst>
              </a:tr>
              <a:tr h="3260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2020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30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CZ032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B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1724507"/>
                  </a:ext>
                </a:extLst>
              </a:tr>
              <a:tr h="3260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2021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24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CZ032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A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07880117"/>
                  </a:ext>
                </a:extLst>
              </a:tr>
              <a:tr h="3260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2021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44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CZ031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1502270"/>
                  </a:ext>
                </a:extLst>
              </a:tr>
              <a:tr h="3260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…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…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…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…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…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612900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F14FFAA-61C4-7608-A8D0-71A88A40B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254665"/>
              </p:ext>
            </p:extLst>
          </p:nvPr>
        </p:nvGraphicFramePr>
        <p:xfrm>
          <a:off x="447741" y="4570424"/>
          <a:ext cx="5261316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43381">
                  <a:extLst>
                    <a:ext uri="{9D8B030D-6E8A-4147-A177-3AD203B41FA5}">
                      <a16:colId xmlns:a16="http://schemas.microsoft.com/office/drawing/2014/main" val="2322485571"/>
                    </a:ext>
                  </a:extLst>
                </a:gridCol>
                <a:gridCol w="3417935">
                  <a:extLst>
                    <a:ext uri="{9D8B030D-6E8A-4147-A177-3AD203B41FA5}">
                      <a16:colId xmlns:a16="http://schemas.microsoft.com/office/drawing/2014/main" val="319124417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 err="1">
                          <a:effectLst/>
                        </a:rPr>
                        <a:t>Kraj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Název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77663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CZ010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 err="1">
                          <a:effectLst/>
                        </a:rPr>
                        <a:t>Hlavní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město</a:t>
                      </a:r>
                      <a:r>
                        <a:rPr lang="en-US" sz="2000" u="none" strike="noStrike" dirty="0">
                          <a:effectLst/>
                        </a:rPr>
                        <a:t> Praha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5162014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CZ031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Jihočeský kraj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86360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CZ032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Plzeňský kraj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60691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…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…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5663599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60E1119-52BC-EDBE-33C5-62CEDF527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781721"/>
              </p:ext>
            </p:extLst>
          </p:nvPr>
        </p:nvGraphicFramePr>
        <p:xfrm>
          <a:off x="7063431" y="4153377"/>
          <a:ext cx="3203708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1854">
                  <a:extLst>
                    <a:ext uri="{9D8B030D-6E8A-4147-A177-3AD203B41FA5}">
                      <a16:colId xmlns:a16="http://schemas.microsoft.com/office/drawing/2014/main" val="3338186007"/>
                    </a:ext>
                  </a:extLst>
                </a:gridCol>
                <a:gridCol w="1601854">
                  <a:extLst>
                    <a:ext uri="{9D8B030D-6E8A-4147-A177-3AD203B41FA5}">
                      <a16:colId xmlns:a16="http://schemas.microsoft.com/office/drawing/2014/main" val="2818172287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 err="1">
                          <a:effectLst/>
                        </a:rPr>
                        <a:t>Kód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Název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693347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A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IT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27944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B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HR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119836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C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Finance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688193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effectLst/>
                        </a:rPr>
                        <a:t>…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effectLst/>
                        </a:rPr>
                        <a:t>…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82739065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28D0ED98-D0D2-1775-5759-74108EA8C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63" y="365125"/>
            <a:ext cx="9937750" cy="1325563"/>
          </a:xfrm>
        </p:spPr>
        <p:txBody>
          <a:bodyPr/>
          <a:lstStyle/>
          <a:p>
            <a:r>
              <a:rPr lang="cs-CZ" dirty="0"/>
              <a:t>Hlavní identifikátor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052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EE74C-A073-D07D-E152-C2CF2468E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7E63E-221C-F565-1D07-AA7253394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proměnných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AA2A7B-141F-6E0F-5517-77B30F01F367}"/>
              </a:ext>
            </a:extLst>
          </p:cNvPr>
          <p:cNvSpPr txBox="1"/>
          <p:nvPr/>
        </p:nvSpPr>
        <p:spPr>
          <a:xfrm>
            <a:off x="472966" y="6176963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  <a:hlinkClick r:id="rId2"/>
              </a:rPr>
              <a:t>https://www.theknowledgeacademy.com/blog/types-of-data-in-statistics</a:t>
            </a:r>
            <a:endParaRPr lang="en-US" sz="1050" dirty="0"/>
          </a:p>
        </p:txBody>
      </p:sp>
      <p:pic>
        <p:nvPicPr>
          <p:cNvPr id="11270" name="Picture 6" descr="Types of Data in Statistics: An Ultimate Guide">
            <a:extLst>
              <a:ext uri="{FF2B5EF4-FFF2-40B4-BE49-F238E27FC236}">
                <a16:creationId xmlns:a16="http://schemas.microsoft.com/office/drawing/2014/main" id="{8D8FDBCB-866E-342A-9DC4-C38408BA5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8320" y="1424611"/>
            <a:ext cx="80962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1140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39091-1B63-0F2C-E456-33FFFEFB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C32F8-078F-37AC-9F77-FC88506DE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proměnných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C8C34-EC3E-410E-FF0C-485CADE24252}"/>
              </a:ext>
            </a:extLst>
          </p:cNvPr>
          <p:cNvSpPr txBox="1"/>
          <p:nvPr/>
        </p:nvSpPr>
        <p:spPr>
          <a:xfrm>
            <a:off x="876563" y="1620695"/>
            <a:ext cx="10121462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cs-CZ" b="0" dirty="0"/>
              <a:t>Věk –</a:t>
            </a:r>
          </a:p>
          <a:p>
            <a:pPr>
              <a:spcAft>
                <a:spcPts val="1200"/>
              </a:spcAft>
            </a:pPr>
            <a:r>
              <a:rPr lang="cs-CZ" b="0" dirty="0"/>
              <a:t>Krevní tlak –</a:t>
            </a:r>
          </a:p>
          <a:p>
            <a:pPr>
              <a:spcAft>
                <a:spcPts val="1200"/>
              </a:spcAft>
            </a:pPr>
            <a:r>
              <a:rPr lang="cs-CZ" b="0" dirty="0"/>
              <a:t>Teplota –</a:t>
            </a:r>
          </a:p>
          <a:p>
            <a:pPr>
              <a:spcAft>
                <a:spcPts val="1200"/>
              </a:spcAft>
            </a:pPr>
            <a:r>
              <a:rPr lang="cs-CZ" b="0" dirty="0"/>
              <a:t>Počet sourozenců –</a:t>
            </a:r>
          </a:p>
          <a:p>
            <a:pPr>
              <a:spcAft>
                <a:spcPts val="1200"/>
              </a:spcAft>
            </a:pPr>
            <a:r>
              <a:rPr lang="cs-CZ" b="0" dirty="0"/>
              <a:t>Váha –</a:t>
            </a:r>
          </a:p>
          <a:p>
            <a:pPr>
              <a:spcAft>
                <a:spcPts val="1200"/>
              </a:spcAft>
            </a:pPr>
            <a:r>
              <a:rPr lang="cs-CZ" b="0" dirty="0"/>
              <a:t>Oblíbené politické uskupení –</a:t>
            </a:r>
          </a:p>
          <a:p>
            <a:pPr>
              <a:spcAft>
                <a:spcPts val="1200"/>
              </a:spcAft>
            </a:pPr>
            <a:r>
              <a:rPr lang="cs-CZ" b="0" dirty="0"/>
              <a:t>Počet sledujících na Instagramu –</a:t>
            </a:r>
          </a:p>
          <a:p>
            <a:pPr>
              <a:spcAft>
                <a:spcPts val="1200"/>
              </a:spcAft>
            </a:pPr>
            <a:endParaRPr lang="cs-CZ" b="0" dirty="0"/>
          </a:p>
        </p:txBody>
      </p:sp>
    </p:spTree>
    <p:extLst>
      <p:ext uri="{BB962C8B-B14F-4D97-AF65-F5344CB8AC3E}">
        <p14:creationId xmlns:p14="http://schemas.microsoft.com/office/powerpoint/2010/main" val="16438977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377E-30F6-F99B-987D-DB7944F65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AB078-8AE2-39AF-F0E9-796D77C63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Odlehlé proměnné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6D07A8-8368-DEC8-D800-B32735CD1120}"/>
              </a:ext>
            </a:extLst>
          </p:cNvPr>
          <p:cNvSpPr txBox="1"/>
          <p:nvPr/>
        </p:nvSpPr>
        <p:spPr>
          <a:xfrm>
            <a:off x="792163" y="1690688"/>
            <a:ext cx="73680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0" dirty="0" err="1"/>
              <a:t>Tukeyho</a:t>
            </a:r>
            <a:r>
              <a:rPr lang="cs-CZ" b="0" dirty="0"/>
              <a:t> pravidlo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Použití krabičkového grafu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x &lt; q1 - 1,5*IQR nebo x &gt; q3 + 1,5*IQR – odlehlé pozorování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x &lt; q1 - 3*IQR nebo x &gt; q3 + 3*IQR – extrémní pozorování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Je to ale arbitrární…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Pozor na zešikmené rozdělení</a:t>
            </a:r>
          </a:p>
          <a:p>
            <a:pPr marL="285750" indent="-285750">
              <a:buFontTx/>
              <a:buChar char="-"/>
            </a:pPr>
            <a:endParaRPr lang="cs-CZ" b="0" dirty="0"/>
          </a:p>
        </p:txBody>
      </p:sp>
      <p:pic>
        <p:nvPicPr>
          <p:cNvPr id="13314" name="Picture 2" descr="The 1.5×IQR Rule To Locate Outliers &amp; Modified Box-&amp;-Whisker Plots">
            <a:extLst>
              <a:ext uri="{FF2B5EF4-FFF2-40B4-BE49-F238E27FC236}">
                <a16:creationId xmlns:a16="http://schemas.microsoft.com/office/drawing/2014/main" id="{F3D6A5B8-04C6-CBBA-3B88-59C6A256E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810" y="2926501"/>
            <a:ext cx="5484038" cy="3085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D5B3A1-D9F7-2C88-1F8C-14080AF4C2D8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https://www.youtube.com/watch?v=0YZKL160EDM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932513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8AEF0-F38B-646D-8A73-2CCB9EC3D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131AA-261D-653E-1CEF-80D1012AD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Odlehlé proměnné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73F313-589F-2B6A-A770-65550AA4B47C}"/>
              </a:ext>
            </a:extLst>
          </p:cNvPr>
          <p:cNvSpPr txBox="1"/>
          <p:nvPr/>
        </p:nvSpPr>
        <p:spPr>
          <a:xfrm>
            <a:off x="792163" y="1690688"/>
            <a:ext cx="73680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b="0" dirty="0"/>
              <a:t>Z-skóre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Data jsou přibližně normální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Průměr = 0</a:t>
            </a:r>
          </a:p>
          <a:p>
            <a:pPr marL="285750" indent="-285750">
              <a:buFontTx/>
              <a:buChar char="-"/>
            </a:pPr>
            <a:r>
              <a:rPr lang="cs-CZ" b="0" dirty="0"/>
              <a:t>Směr. </a:t>
            </a:r>
            <a:r>
              <a:rPr lang="cs-CZ" b="0" dirty="0" err="1"/>
              <a:t>Odch</a:t>
            </a:r>
            <a:r>
              <a:rPr lang="cs-CZ" b="0" dirty="0"/>
              <a:t>. = Rozptyl = 1</a:t>
            </a:r>
          </a:p>
          <a:p>
            <a:pPr marL="285750" indent="-285750">
              <a:buFontTx/>
              <a:buChar char="-"/>
            </a:pPr>
            <a:endParaRPr lang="cs-CZ" b="0" dirty="0"/>
          </a:p>
          <a:p>
            <a:pPr marL="285750" indent="-285750">
              <a:buFontTx/>
              <a:buChar char="-"/>
            </a:pPr>
            <a:endParaRPr lang="cs-CZ" b="0" dirty="0"/>
          </a:p>
          <a:p>
            <a:pPr marL="285750" indent="-285750">
              <a:buFontTx/>
              <a:buChar char="-"/>
            </a:pPr>
            <a:endParaRPr lang="cs-CZ" b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B486CE-BCBB-D5CE-3F4D-F33897AF42C3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https://builtin.com/data-science/empirical-rule</a:t>
            </a:r>
            <a:endParaRPr lang="en-US" sz="10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C6BD2E-90A9-D696-0C1C-42C9027D8A8E}"/>
                  </a:ext>
                </a:extLst>
              </p:cNvPr>
              <p:cNvSpPr txBox="1"/>
              <p:nvPr/>
            </p:nvSpPr>
            <p:spPr>
              <a:xfrm>
                <a:off x="6930522" y="687087"/>
                <a:ext cx="3014366" cy="5618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s-CZ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cs-CZ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cs-CZ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cs-CZ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cs-CZ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C6BD2E-90A9-D696-0C1C-42C9027D8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522" y="687087"/>
                <a:ext cx="3014366" cy="561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62" name="Picture 2" descr="Empirical Rule (68-95-99.7) Explained | Built In">
            <a:extLst>
              <a:ext uri="{FF2B5EF4-FFF2-40B4-BE49-F238E27FC236}">
                <a16:creationId xmlns:a16="http://schemas.microsoft.com/office/drawing/2014/main" id="{515BA194-50BA-A1E1-C4CE-BDC660786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8355" y="2555917"/>
            <a:ext cx="6642652" cy="332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6653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99F3F-3468-0F2C-9B4B-8C116ECF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C41D8-E26D-674C-35BE-E68C41D9C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Odlehlé proměnné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CE9BBD-2337-FEFB-3486-296E7763DA83}"/>
              </a:ext>
            </a:extLst>
          </p:cNvPr>
          <p:cNvSpPr txBox="1"/>
          <p:nvPr/>
        </p:nvSpPr>
        <p:spPr>
          <a:xfrm>
            <a:off x="792163" y="1690688"/>
            <a:ext cx="7368069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cs-CZ" b="0" dirty="0"/>
              <a:t>Vícerozměrné a specializované metody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cs-CZ" b="0" dirty="0" err="1"/>
              <a:t>Mahalanobisova</a:t>
            </a:r>
            <a:r>
              <a:rPr lang="cs-CZ" b="0" dirty="0"/>
              <a:t> vzdálenost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cs-CZ" b="0" dirty="0"/>
              <a:t>Hierarchická </a:t>
            </a:r>
            <a:r>
              <a:rPr lang="cs-CZ" b="0" dirty="0" err="1"/>
              <a:t>clusterová</a:t>
            </a:r>
            <a:r>
              <a:rPr lang="cs-CZ" b="0" dirty="0"/>
              <a:t> analýza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cs-CZ" b="0" dirty="0"/>
              <a:t>Algoritmická </a:t>
            </a:r>
            <a:r>
              <a:rPr lang="cs-CZ" b="0" dirty="0" err="1"/>
              <a:t>clusterová</a:t>
            </a:r>
            <a:r>
              <a:rPr lang="cs-CZ" b="0" dirty="0"/>
              <a:t> analýza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cs-CZ" b="0" dirty="0"/>
              <a:t>Cookova vzdálenost v regresní analýze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cs-CZ" b="0" dirty="0"/>
              <a:t>Vlivná pozorování v regresní analýze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cs-CZ" b="0" dirty="0"/>
              <a:t>…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endParaRPr lang="cs-CZ" b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EFF878-4129-9BC9-B5B9-D15398019021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https://builtin.com/data-science/empirical-rule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100063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BE12-F08C-B985-E3E0-ACBAFC515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F893-8DB5-F866-2672-84E1D780E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Chybějící hodnoty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8F9A45-43F1-88B0-39D8-24805467CA16}"/>
              </a:ext>
            </a:extLst>
          </p:cNvPr>
          <p:cNvSpPr txBox="1"/>
          <p:nvPr/>
        </p:nvSpPr>
        <p:spPr>
          <a:xfrm>
            <a:off x="792163" y="1690688"/>
            <a:ext cx="736806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endParaRPr lang="cs-CZ" b="0" dirty="0"/>
          </a:p>
          <a:p>
            <a:pPr marL="285750" indent="-285750">
              <a:spcAft>
                <a:spcPts val="1200"/>
              </a:spcAft>
              <a:buFontTx/>
              <a:buChar char="-"/>
            </a:pPr>
            <a:endParaRPr lang="cs-CZ" b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0FD954-96F0-E177-4FFA-9C53AA233B7F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https://builtin.com/data-science/empirical-rule</a:t>
            </a:r>
            <a:endParaRPr 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D38D80-D511-29D9-E3D4-8AF5B136F610}"/>
              </a:ext>
            </a:extLst>
          </p:cNvPr>
          <p:cNvSpPr txBox="1"/>
          <p:nvPr/>
        </p:nvSpPr>
        <p:spPr>
          <a:xfrm>
            <a:off x="792163" y="1690688"/>
            <a:ext cx="7368069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cs-CZ" b="0" dirty="0" err="1"/>
              <a:t>Missing</a:t>
            </a:r>
            <a:r>
              <a:rPr lang="cs-CZ" b="0" dirty="0"/>
              <a:t> </a:t>
            </a:r>
            <a:r>
              <a:rPr lang="cs-CZ" b="0" dirty="0" err="1"/>
              <a:t>completely</a:t>
            </a:r>
            <a:r>
              <a:rPr lang="cs-CZ" b="0" dirty="0"/>
              <a:t> </a:t>
            </a:r>
            <a:r>
              <a:rPr lang="cs-CZ" b="0" dirty="0" err="1"/>
              <a:t>at</a:t>
            </a:r>
            <a:r>
              <a:rPr lang="cs-CZ" b="0" dirty="0"/>
              <a:t> </a:t>
            </a:r>
            <a:r>
              <a:rPr lang="cs-CZ" b="0" dirty="0" err="1"/>
              <a:t>random</a:t>
            </a:r>
            <a:r>
              <a:rPr lang="cs-CZ" b="0" dirty="0"/>
              <a:t> (</a:t>
            </a:r>
            <a:r>
              <a:rPr lang="cs-CZ" dirty="0"/>
              <a:t>MCAR</a:t>
            </a:r>
            <a:r>
              <a:rPr lang="cs-CZ" b="0" dirty="0"/>
              <a:t>)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Rozbil se mi stroj a tak nemám měření za poslední hodinu</a:t>
            </a:r>
          </a:p>
          <a:p>
            <a:pPr>
              <a:spcAft>
                <a:spcPts val="1200"/>
              </a:spcAft>
            </a:pPr>
            <a:r>
              <a:rPr lang="cs-CZ" b="0" dirty="0" err="1"/>
              <a:t>Missing</a:t>
            </a:r>
            <a:r>
              <a:rPr lang="cs-CZ" b="0" dirty="0"/>
              <a:t> </a:t>
            </a:r>
            <a:r>
              <a:rPr lang="cs-CZ" b="0" dirty="0" err="1"/>
              <a:t>at</a:t>
            </a:r>
            <a:r>
              <a:rPr lang="cs-CZ" b="0" dirty="0"/>
              <a:t> </a:t>
            </a:r>
            <a:r>
              <a:rPr lang="cs-CZ" b="0" dirty="0" err="1"/>
              <a:t>random</a:t>
            </a:r>
            <a:r>
              <a:rPr lang="cs-CZ" b="0" dirty="0"/>
              <a:t> (</a:t>
            </a:r>
            <a:r>
              <a:rPr lang="cs-CZ" dirty="0"/>
              <a:t>MAR</a:t>
            </a:r>
            <a:r>
              <a:rPr lang="cs-CZ" b="0" dirty="0"/>
              <a:t>)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Nemám změřený tlak osoby, protože nechodí na kontrolu</a:t>
            </a:r>
          </a:p>
          <a:p>
            <a:pPr>
              <a:spcAft>
                <a:spcPts val="1200"/>
              </a:spcAft>
            </a:pPr>
            <a:r>
              <a:rPr lang="cs-CZ" b="0" dirty="0" err="1"/>
              <a:t>Missing</a:t>
            </a:r>
            <a:r>
              <a:rPr lang="cs-CZ" b="0" dirty="0"/>
              <a:t> not </a:t>
            </a:r>
            <a:r>
              <a:rPr lang="cs-CZ" b="0" dirty="0" err="1"/>
              <a:t>at</a:t>
            </a:r>
            <a:r>
              <a:rPr lang="cs-CZ" b="0" dirty="0"/>
              <a:t> </a:t>
            </a:r>
            <a:r>
              <a:rPr lang="cs-CZ" b="0" dirty="0" err="1"/>
              <a:t>random</a:t>
            </a:r>
            <a:r>
              <a:rPr lang="cs-CZ" b="0" dirty="0"/>
              <a:t> (</a:t>
            </a:r>
            <a:r>
              <a:rPr lang="cs-CZ" dirty="0"/>
              <a:t>MNAR</a:t>
            </a:r>
            <a:r>
              <a:rPr lang="cs-CZ" b="0" dirty="0"/>
              <a:t>)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Chybí mi plat u bohatých lidí</a:t>
            </a:r>
          </a:p>
        </p:txBody>
      </p:sp>
    </p:spTree>
    <p:extLst>
      <p:ext uri="{BB962C8B-B14F-4D97-AF65-F5344CB8AC3E}">
        <p14:creationId xmlns:p14="http://schemas.microsoft.com/office/powerpoint/2010/main" val="28483836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37B0-0FDB-2C20-AF15-5C322C7B2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47F18-22F8-0F25-03BD-7FB3513C3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Doplnění chybějících hodnot u čísel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2C3B77-8BFC-7A4B-AAEB-8DA3659C9AD5}"/>
              </a:ext>
            </a:extLst>
          </p:cNvPr>
          <p:cNvSpPr txBox="1"/>
          <p:nvPr/>
        </p:nvSpPr>
        <p:spPr>
          <a:xfrm>
            <a:off x="792163" y="1690688"/>
            <a:ext cx="736806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endParaRPr lang="cs-CZ" b="0" dirty="0"/>
          </a:p>
          <a:p>
            <a:pPr marL="285750" indent="-285750">
              <a:spcAft>
                <a:spcPts val="1200"/>
              </a:spcAft>
              <a:buFontTx/>
              <a:buChar char="-"/>
            </a:pPr>
            <a:endParaRPr lang="cs-CZ" b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66040B-B874-A8F7-65AC-CF462CA9D464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https://builtin.com/data-science/empirical-rule</a:t>
            </a:r>
            <a:endParaRPr 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34EB4-8FFB-8A14-25C7-4894D86C2528}"/>
              </a:ext>
            </a:extLst>
          </p:cNvPr>
          <p:cNvSpPr txBox="1"/>
          <p:nvPr/>
        </p:nvSpPr>
        <p:spPr>
          <a:xfrm>
            <a:off x="792163" y="1690688"/>
            <a:ext cx="7368069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cs-CZ" b="0" dirty="0"/>
              <a:t>Doplním průměrem – nezmění se průměr, ale zmenší se rozptyl</a:t>
            </a:r>
          </a:p>
          <a:p>
            <a:pPr>
              <a:spcAft>
                <a:spcPts val="1200"/>
              </a:spcAft>
            </a:pPr>
            <a:r>
              <a:rPr lang="cs-CZ" b="0" dirty="0"/>
              <a:t>Podmíněné doplnění průměrem – stejné problémy</a:t>
            </a:r>
          </a:p>
          <a:p>
            <a:pPr>
              <a:spcAft>
                <a:spcPts val="1200"/>
              </a:spcAft>
            </a:pPr>
            <a:r>
              <a:rPr lang="cs-CZ" b="0" dirty="0"/>
              <a:t>Predikce regresním problémem – vznik </a:t>
            </a:r>
            <a:r>
              <a:rPr lang="cs-CZ" b="0" dirty="0" err="1"/>
              <a:t>multikolinearity</a:t>
            </a:r>
            <a:endParaRPr lang="cs-CZ" b="0" dirty="0"/>
          </a:p>
          <a:p>
            <a:pPr>
              <a:spcAft>
                <a:spcPts val="1200"/>
              </a:spcAft>
            </a:pPr>
            <a:r>
              <a:rPr lang="cs-CZ" b="0" dirty="0"/>
              <a:t>Vícenásobné doplnění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Rozdělení dat na více data setů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Doplnění chybějících hodnot – různé způsoby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Dokončení analýzy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cs-CZ" b="0" dirty="0"/>
              <a:t>Agregace výsledků</a:t>
            </a:r>
          </a:p>
          <a:p>
            <a:pPr>
              <a:spcAft>
                <a:spcPts val="1200"/>
              </a:spcAft>
            </a:pPr>
            <a:endParaRPr lang="cs-CZ" b="0" dirty="0"/>
          </a:p>
        </p:txBody>
      </p:sp>
    </p:spTree>
    <p:extLst>
      <p:ext uri="{BB962C8B-B14F-4D97-AF65-F5344CB8AC3E}">
        <p14:creationId xmlns:p14="http://schemas.microsoft.com/office/powerpoint/2010/main" val="11676620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45D6B-213C-6C2E-7331-051F67237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FB2EB-0573-60C5-AC90-5D455260F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Doplnění chybějících hodnot u kategorií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494B-68C2-60C9-A522-04E159A449C3}"/>
              </a:ext>
            </a:extLst>
          </p:cNvPr>
          <p:cNvSpPr txBox="1"/>
          <p:nvPr/>
        </p:nvSpPr>
        <p:spPr>
          <a:xfrm>
            <a:off x="792163" y="1690688"/>
            <a:ext cx="736806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endParaRPr lang="cs-CZ" b="0" dirty="0"/>
          </a:p>
          <a:p>
            <a:pPr marL="285750" indent="-285750">
              <a:spcAft>
                <a:spcPts val="1200"/>
              </a:spcAft>
              <a:buFontTx/>
              <a:buChar char="-"/>
            </a:pPr>
            <a:endParaRPr lang="cs-CZ" b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7BE08-46D4-478D-EF5D-6A4A9FCBFAC5}"/>
              </a:ext>
            </a:extLst>
          </p:cNvPr>
          <p:cNvSpPr txBox="1"/>
          <p:nvPr/>
        </p:nvSpPr>
        <p:spPr>
          <a:xfrm>
            <a:off x="472966" y="6085490"/>
            <a:ext cx="99701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0" i="0" dirty="0">
                <a:solidFill>
                  <a:srgbClr val="212529"/>
                </a:solidFill>
                <a:effectLst/>
                <a:latin typeface="Open Sans" pitchFamily="2" charset="0"/>
              </a:rPr>
              <a:t>https://builtin.com/data-science/empirical-rule</a:t>
            </a:r>
            <a:endParaRPr 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EAE72-18F2-38A1-D558-074A8504E5FB}"/>
              </a:ext>
            </a:extLst>
          </p:cNvPr>
          <p:cNvSpPr txBox="1"/>
          <p:nvPr/>
        </p:nvSpPr>
        <p:spPr>
          <a:xfrm>
            <a:off x="792163" y="1690688"/>
            <a:ext cx="736806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cs-CZ" b="0" dirty="0"/>
              <a:t>Kategorie „chybějící hodnoty“</a:t>
            </a:r>
          </a:p>
          <a:p>
            <a:pPr>
              <a:spcAft>
                <a:spcPts val="1200"/>
              </a:spcAft>
            </a:pPr>
            <a:r>
              <a:rPr lang="cs-CZ" b="0" dirty="0"/>
              <a:t>Modální kategorie</a:t>
            </a:r>
          </a:p>
          <a:p>
            <a:pPr>
              <a:spcAft>
                <a:spcPts val="1200"/>
              </a:spcAft>
            </a:pPr>
            <a:r>
              <a:rPr lang="cs-CZ" b="0" dirty="0"/>
              <a:t>Binární kategorie – pravděpodobnost z logistické regrese</a:t>
            </a:r>
          </a:p>
        </p:txBody>
      </p:sp>
    </p:spTree>
    <p:extLst>
      <p:ext uri="{BB962C8B-B14F-4D97-AF65-F5344CB8AC3E}">
        <p14:creationId xmlns:p14="http://schemas.microsoft.com/office/powerpoint/2010/main" val="59449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A6ABB-CE9A-7E0C-4137-F304A4506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B7813-591F-5837-2B52-7F8522BB5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62" y="2766219"/>
            <a:ext cx="9937750" cy="1325563"/>
          </a:xfrm>
        </p:spPr>
        <p:txBody>
          <a:bodyPr>
            <a:normAutofit/>
          </a:bodyPr>
          <a:lstStyle/>
          <a:p>
            <a:pPr algn="ctr"/>
            <a:r>
              <a:rPr lang="cs-CZ" sz="4400" dirty="0"/>
              <a:t>Používáte něco jiného vy?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773875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EAEBEA"/>
      </a:dk1>
      <a:lt1>
        <a:srgbClr val="FFFFFF"/>
      </a:lt1>
      <a:dk2>
        <a:srgbClr val="00203E"/>
      </a:dk2>
      <a:lt2>
        <a:srgbClr val="75B729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2286DD"/>
      </a:hlink>
      <a:folHlink>
        <a:srgbClr val="7497BB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Office Theme 1">
        <a:dk1>
          <a:srgbClr val="EAEBEA"/>
        </a:dk1>
        <a:lt1>
          <a:srgbClr val="FFFFFF"/>
        </a:lt1>
        <a:dk2>
          <a:srgbClr val="00203E"/>
        </a:dk2>
        <a:lt2>
          <a:srgbClr val="75B729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C8C9C8"/>
        </a:accent4>
        <a:accent5>
          <a:srgbClr val="EBEBEB"/>
        </a:accent5>
        <a:accent6>
          <a:srgbClr val="A1A1A1"/>
        </a:accent6>
        <a:hlink>
          <a:srgbClr val="2286DD"/>
        </a:hlink>
        <a:folHlink>
          <a:srgbClr val="7497B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333333"/>
        </a:dk1>
        <a:lt1>
          <a:srgbClr val="FFFFFF"/>
        </a:lt1>
        <a:dk2>
          <a:srgbClr val="00203E"/>
        </a:dk2>
        <a:lt2>
          <a:srgbClr val="75B729"/>
        </a:lt2>
        <a:accent1>
          <a:srgbClr val="DDDDDD"/>
        </a:accent1>
        <a:accent2>
          <a:srgbClr val="FFFFFF"/>
        </a:accent2>
        <a:accent3>
          <a:srgbClr val="FFFFFF"/>
        </a:accent3>
        <a:accent4>
          <a:srgbClr val="2A2A2A"/>
        </a:accent4>
        <a:accent5>
          <a:srgbClr val="EBEBEB"/>
        </a:accent5>
        <a:accent6>
          <a:srgbClr val="E7E7E7"/>
        </a:accent6>
        <a:hlink>
          <a:srgbClr val="2286DD"/>
        </a:hlink>
        <a:folHlink>
          <a:srgbClr val="7497B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Theme 2">
    <a:dk1>
      <a:srgbClr val="333333"/>
    </a:dk1>
    <a:lt1>
      <a:srgbClr val="FFFFFF"/>
    </a:lt1>
    <a:dk2>
      <a:srgbClr val="00203E"/>
    </a:dk2>
    <a:lt2>
      <a:srgbClr val="75B729"/>
    </a:lt2>
    <a:accent1>
      <a:srgbClr val="DDDDDD"/>
    </a:accent1>
    <a:accent2>
      <a:srgbClr val="FFFFFF"/>
    </a:accent2>
    <a:accent3>
      <a:srgbClr val="FFFFFF"/>
    </a:accent3>
    <a:accent4>
      <a:srgbClr val="2A2A2A"/>
    </a:accent4>
    <a:accent5>
      <a:srgbClr val="EBEBEB"/>
    </a:accent5>
    <a:accent6>
      <a:srgbClr val="E7E7E7"/>
    </a:accent6>
    <a:hlink>
      <a:srgbClr val="2286DD"/>
    </a:hlink>
    <a:folHlink>
      <a:srgbClr val="7497BB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83762EB5A18C04DBFA29C99AD83F26B" ma:contentTypeVersion="15" ma:contentTypeDescription="Vytvoří nový dokument" ma:contentTypeScope="" ma:versionID="d9ef6691753f8d1d5aac364a0a95b869">
  <xsd:schema xmlns:xsd="http://www.w3.org/2001/XMLSchema" xmlns:xs="http://www.w3.org/2001/XMLSchema" xmlns:p="http://schemas.microsoft.com/office/2006/metadata/properties" xmlns:ns2="b5e40aea-b4ae-4b94-9008-c1fed4a5c359" xmlns:ns3="c95f7331-2dea-4b91-a62c-a2ea58dcbe03" targetNamespace="http://schemas.microsoft.com/office/2006/metadata/properties" ma:root="true" ma:fieldsID="8ffb3d0fa66fdebc604d2e8eddcb4819" ns2:_="" ns3:_="">
    <xsd:import namespace="b5e40aea-b4ae-4b94-9008-c1fed4a5c359"/>
    <xsd:import namespace="c95f7331-2dea-4b91-a62c-a2ea58dcbe0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e40aea-b4ae-4b94-9008-c1fed4a5c35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Značky obrázků" ma:readOnly="false" ma:fieldId="{5cf76f15-5ced-4ddc-b409-7134ff3c332f}" ma:taxonomyMulti="true" ma:sspId="f0a14af1-e00f-4e76-aafe-20c72589a8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5f7331-2dea-4b91-a62c-a2ea58dcbe03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c2ef57f-8d97-40b3-a219-205d2804e26f}" ma:internalName="TaxCatchAll" ma:showField="CatchAllData" ma:web="c95f7331-2dea-4b91-a62c-a2ea58dcbe0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5e40aea-b4ae-4b94-9008-c1fed4a5c359">
      <Terms xmlns="http://schemas.microsoft.com/office/infopath/2007/PartnerControls"/>
    </lcf76f155ced4ddcb4097134ff3c332f>
    <TaxCatchAll xmlns="c95f7331-2dea-4b91-a62c-a2ea58dcbe03" xsi:nil="true"/>
  </documentManagement>
</p:properties>
</file>

<file path=customXml/itemProps1.xml><?xml version="1.0" encoding="utf-8"?>
<ds:datastoreItem xmlns:ds="http://schemas.openxmlformats.org/officeDocument/2006/customXml" ds:itemID="{9FF36B38-92E1-4434-B928-0B6896AEBC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5e40aea-b4ae-4b94-9008-c1fed4a5c359"/>
    <ds:schemaRef ds:uri="c95f7331-2dea-4b91-a62c-a2ea58dcbe0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5AAFBE4-E0F2-46C8-9B9D-C83397D2F04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3785A2-D7CE-4CE1-98CE-0E3D5DDB8231}">
  <ds:schemaRefs>
    <ds:schemaRef ds:uri="http://schemas.microsoft.com/office/2006/metadata/properties"/>
    <ds:schemaRef ds:uri="http://schemas.microsoft.com/office/infopath/2007/PartnerControls"/>
    <ds:schemaRef ds:uri="b5e40aea-b4ae-4b94-9008-c1fed4a5c359"/>
    <ds:schemaRef ds:uri="c95f7331-2dea-4b91-a62c-a2ea58dcbe0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4001</TotalTime>
  <Words>817</Words>
  <Application>Microsoft Office PowerPoint</Application>
  <PresentationFormat>Custom</PresentationFormat>
  <Paragraphs>210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1" baseType="lpstr">
      <vt:lpstr>Aptos Narrow</vt:lpstr>
      <vt:lpstr>Arial</vt:lpstr>
      <vt:lpstr>Calibri</vt:lpstr>
      <vt:lpstr>Cambria Math</vt:lpstr>
      <vt:lpstr>Century Gothic</vt:lpstr>
      <vt:lpstr>Open Sans</vt:lpstr>
      <vt:lpstr>Poppins</vt:lpstr>
      <vt:lpstr>Wingdings</vt:lpstr>
      <vt:lpstr>Office Theme</vt:lpstr>
      <vt:lpstr>Základy statistického zpracování dat v MS Excel pro vědce</vt:lpstr>
      <vt:lpstr>PowerPoint Presentation</vt:lpstr>
      <vt:lpstr>CRISP-DM</vt:lpstr>
      <vt:lpstr>PowerPoint Presentation</vt:lpstr>
      <vt:lpstr>CRISP-DM</vt:lpstr>
      <vt:lpstr>CRISP-DM</vt:lpstr>
      <vt:lpstr>PowerPoint Presentation</vt:lpstr>
      <vt:lpstr>CRISP-DM</vt:lpstr>
      <vt:lpstr>CRISP-DM</vt:lpstr>
      <vt:lpstr>CRISP-DM</vt:lpstr>
      <vt:lpstr>CRISP-DM</vt:lpstr>
      <vt:lpstr>CRISP-DM</vt:lpstr>
      <vt:lpstr>CRISP-DM</vt:lpstr>
      <vt:lpstr>PowerPoint Presentation</vt:lpstr>
      <vt:lpstr>Statistika</vt:lpstr>
      <vt:lpstr>Charakteristiky dat</vt:lpstr>
      <vt:lpstr>Charakteristiky polohy</vt:lpstr>
      <vt:lpstr>Charakteristiky variability</vt:lpstr>
      <vt:lpstr>Používáte něco jiného vy?</vt:lpstr>
      <vt:lpstr>PowerPoint Presentation</vt:lpstr>
      <vt:lpstr>Příprava dat</vt:lpstr>
      <vt:lpstr>Hlavní identifikátor</vt:lpstr>
      <vt:lpstr>Hlavní identifikátor</vt:lpstr>
      <vt:lpstr>Typy proměnných</vt:lpstr>
      <vt:lpstr>Typy proměnných</vt:lpstr>
      <vt:lpstr>Odlehlé proměnné</vt:lpstr>
      <vt:lpstr>Odlehlé proměnné</vt:lpstr>
      <vt:lpstr>Odlehlé proměnné</vt:lpstr>
      <vt:lpstr>Chybějící hodnoty</vt:lpstr>
      <vt:lpstr>Doplnění chybějících hodnot u čísel</vt:lpstr>
      <vt:lpstr>Doplnění chybějících hodnot u kategorií</vt:lpstr>
      <vt:lpstr>Používáte něco jiného vy?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 Chalas</dc:creator>
  <cp:lastModifiedBy>Michal Lauer</cp:lastModifiedBy>
  <cp:revision>131</cp:revision>
  <dcterms:created xsi:type="dcterms:W3CDTF">2019-08-20T16:55:22Z</dcterms:created>
  <dcterms:modified xsi:type="dcterms:W3CDTF">2024-12-04T22:19:41Z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0x010100483762EB5A18C04DBFA29C99AD83F26B</vt:lpwstr>
  </property>
</Properties>
</file>